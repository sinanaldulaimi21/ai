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874e94-cb10-ab0d-221c-6c6fb2144f03}">
          <p14:sldIdLst>
            <p14:sldId id="256"/>
            <p14:sldId id="257"/>
          </p14:sldIdLst>
        </p14:section>
        <p14:section name="Scripts" id="{04eed3e8-7124-f7ae-7405-248f30822b8f}">
          <p14:sldIdLst>
            <p14:sldId id="258"/>
            <p14:sldId id="259"/>
          </p14:sldIdLst>
        </p14:section>
        <p14:section name="Safety and output" id="{1d59f811-d6ba-2d31-27dd-d266371064e6}">
          <p14:sldIdLst>
            <p14:sldId id="260"/>
            <p14:sldId id="261"/>
          </p14:sldIdLst>
        </p14:section>
        <p14:section name="Next steps" id="{7b17eca4-94bc-87e8-b2d8-a85fb89236a7}">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walk you through the next step for our ZDX script library: moving from scripts that only diagnose problems to scripts that can safely fix the most common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have two read-only diagnostic scripts in ZDX. They tell us what is wrong, but someone still has to fix it manually. I built two remediation scripts that fix common issues directly from ZDX, using the same format and signing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Clearing the Teams cache is one of the most common fixes we do manually. This script checks first, and if the user is in a Teams call it does nothing. Otherwise it closes Teams for that user, renames the cache instead of deleting it so we can roll back, and reopens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cleanup only runs when the C drive has 20 GB free or less, so it is safe to run anywhere. It clears temp files, caches, crash dumps, the Recycle Bin and update leftovers, and it never touches user documents or browser passwords. If space is still low afterwards, it lists the largest user profiles so we know where the space went.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scripts follow the same safety rules: check first, dry-run mode for testing, backups instead of deletes, no personal data, signed and run as System like our current scripts, and a clear report of everything they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technician sees in ZDX after the script runs. Every result shows before and after values, every action taken, and a final status, so we can confirm the fix without remoting into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plan is to pilot both scripts in dry-run mode on a small test group, review the results, then sign and upload them. After that I would like to keep expanding the library with more fixes. I am asking for approval to start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731520" y="3429000"/>
            <a:ext cx="10698480" cy="822960"/>
          </a:xfrm>
          <a:prstGeom prst="rect">
            <a:avLst/>
          </a:prstGeom>
          <a:noFill/>
          <a:ln/>
        </p:spPr>
        <p:txBody>
          <a:bodyPr wrap="square" rtlCol="0"/>
          <a:lstStyle>
            <a:lvl1pPr indent="0" marL="0">
              <a:buNone/>
              <a:defRPr lang="en-US" sz="2200" dirty="0">
                <a:solidFill>
                  <a:schemeClr val="accent4"/>
                </a:solidFill>
              </a:defRPr>
            </a:lvl1pPr>
          </a:lstStyle>
          <a:p>
            <a:pPr indent="0" marL="0">
              <a:buNone/>
            </a:pPr>
            <a:r>
              <a:rPr lang="en-US" sz="2200" dirty="0">
                <a:solidFill>
                  <a:schemeClr val="accent4"/>
                </a:solidFill>
              </a:rPr>
              <a:t>Subtitle</a:t>
            </a:r>
            <a:endParaRPr lang="en-US" sz="2200" dirty="0"/>
          </a:p>
        </p:txBody>
      </p:sp>
      <p:sp>
        <p:nvSpPr>
          <p:cNvPr id="4" name="Text 0"/>
          <p:cNvSpPr/>
          <p:nvPr>
            <p:ph idx="102" type="body" hasCustomPrompt="1"/>
          </p:nvPr>
        </p:nvSpPr>
        <p:spPr>
          <a:xfrm>
            <a:off x="731520" y="5486400"/>
            <a:ext cx="10698480" cy="548640"/>
          </a:xfrm>
          <a:prstGeom prst="rect">
            <a:avLst/>
          </a:prstGeom>
          <a:noFill/>
          <a:ln/>
        </p:spPr>
        <p:txBody>
          <a:bodyPr wrap="square" rtlCol="0"/>
          <a:lstStyle>
            <a:lvl1pPr indent="0" marL="0">
              <a:buNone/>
              <a:defRPr lang="en-US" sz="1600" dirty="0">
                <a:solidFill>
                  <a:schemeClr val="bg1"/>
                </a:solidFill>
              </a:defRPr>
            </a:lvl1pPr>
          </a:lstStyle>
          <a:p>
            <a:pPr indent="0" marL="0">
              <a:buNone/>
            </a:pPr>
            <a:r>
              <a:rPr lang="en-US" sz="1600" dirty="0">
                <a:solidFill>
                  <a:schemeClr val="bg1"/>
                </a:solidFill>
              </a:rPr>
              <a:t>Presenter</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r>
              <a:rPr lang="en-US" sz="3400" b="1" dirty="0">
                <a:solidFill>
                  <a:schemeClr val="tx2"/>
                </a:solidFill>
              </a:rPr>
              <a:t>Title</a:t>
            </a: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ZDX Remediation Library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371600"/>
          </a:xfrm>
          <a:prstGeom prst="rect">
            <a:avLst/>
          </a:prstGeom>
          <a:noFill/>
          <a:ln/>
        </p:spPr>
        <p:txBody>
          <a:bodyPr wrap="square" lIns="0" tIns="0" rIns="0" bIns="0" rtlCol="0" anchor="b"/>
          <a:lstStyle/>
          <a:p>
            <a:pPr algn="l" indent="0" marL="0">
              <a:buNone/>
            </a:pPr>
            <a:r>
              <a:rPr lang="en-US" sz="4800" b="1" dirty="0">
                <a:solidFill>
                  <a:schemeClr val="bg1"/>
                </a:solidFill>
              </a:rPr>
              <a:t>ZDX Remediation Library</a:t>
            </a:r>
            <a:endParaRPr lang="en-US" sz="4800" dirty="0"/>
          </a:p>
        </p:txBody>
      </p:sp>
      <p:sp>
        <p:nvSpPr>
          <p:cNvPr id="3" name="Text 0"/>
          <p:cNvSpPr/>
          <p:nvPr>
            <p:ph idx="101" type="body" hasCustomPrompt="1"/>
          </p:nvPr>
        </p:nvSpPr>
        <p:spPr>
          <a:xfrm>
            <a:off x="731520" y="3429000"/>
            <a:ext cx="10698480" cy="822960"/>
          </a:xfrm>
          <a:prstGeom prst="rect">
            <a:avLst/>
          </a:prstGeom>
          <a:noFill/>
          <a:ln/>
        </p:spPr>
        <p:txBody>
          <a:bodyPr wrap="square" lIns="0" tIns="0" rIns="0" bIns="0" rtlCol="0" anchor="t"/>
          <a:lstStyle/>
          <a:p>
            <a:pPr indent="0" marL="0">
              <a:buNone/>
            </a:pPr>
            <a:r>
              <a:rPr lang="en-US" sz="2200" dirty="0">
                <a:solidFill>
                  <a:schemeClr val="accent4"/>
                </a:solidFill>
              </a:rPr>
              <a:t>From diagnosing problems to fixing them automatically</a:t>
            </a:r>
            <a:endParaRPr lang="en-US" sz="2200" dirty="0"/>
          </a:p>
        </p:txBody>
      </p:sp>
      <p:sp>
        <p:nvSpPr>
          <p:cNvPr id="4" name="Text 0"/>
          <p:cNvSpPr/>
          <p:nvPr>
            <p:ph idx="102" type="body" hasCustomPrompt="1"/>
          </p:nvPr>
        </p:nvSpPr>
        <p:spPr>
          <a:xfrm>
            <a:off x="731520" y="5486400"/>
            <a:ext cx="10698480" cy="548640"/>
          </a:xfrm>
          <a:prstGeom prst="rect">
            <a:avLst/>
          </a:prstGeom>
          <a:noFill/>
          <a:ln/>
        </p:spPr>
        <p:txBody>
          <a:bodyPr wrap="square" lIns="0" tIns="0" rIns="0" bIns="0" rtlCol="0" anchor="t"/>
          <a:lstStyle/>
          <a:p>
            <a:pPr indent="0" marL="0">
              <a:buNone/>
            </a:pPr>
            <a:r>
              <a:rPr lang="en-US" sz="1600" dirty="0">
                <a:solidFill>
                  <a:schemeClr val="bg1"/>
                </a:solidFill>
              </a:rPr>
              <a:t>Sinan Aldulaimi</a:t>
            </a:r>
            <a:endParaRPr lang="en-US" sz="1600" dirty="0"/>
          </a:p>
        </p:txBody>
      </p:sp>
      <p:sp>
        <p:nvSpPr>
          <p:cNvPr id="5" name="Title badge circle"/>
          <p:cNvSpPr/>
          <p:nvPr/>
        </p:nvSpPr>
        <p:spPr>
          <a:xfrm>
            <a:off x="10241280" y="640080"/>
            <a:ext cx="1188720" cy="1188720"/>
          </a:xfrm>
          <a:prstGeom prst="ellipse">
            <a:avLst/>
          </a:prstGeom>
          <a:solidFill>
            <a:schemeClr val="accent1"/>
          </a:solidFill>
          <a:ln/>
        </p:spPr>
      </p:sp>
      <p:pic>
        <p:nvPicPr>
          <p:cNvPr id="6" name="Title badge icon" descr="preencoded.png">    </p:cNvPr>
          <p:cNvPicPr>
            <a:picLocks noChangeAspect="1"/>
          </p:cNvPicPr>
          <p:nvPr/>
        </p:nvPicPr>
        <p:blipFill>
          <a:blip r:embed="rId1"/>
          <a:stretch>
            <a:fillRect/>
          </a:stretch>
        </p:blipFill>
        <p:spPr>
          <a:xfrm>
            <a:off x="10538460" y="937260"/>
            <a:ext cx="594360" cy="594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From diagnostics to remediation</a:t>
            </a:r>
            <a:endParaRPr lang="en-US" sz="3400" dirty="0"/>
          </a:p>
        </p:txBody>
      </p:sp>
      <p:sp>
        <p:nvSpPr>
          <p:cNvPr id="3" name="Today card"/>
          <p:cNvSpPr/>
          <p:nvPr/>
        </p:nvSpPr>
        <p:spPr>
          <a:xfrm>
            <a:off x="548640" y="1463040"/>
            <a:ext cx="5120640" cy="3383280"/>
          </a:xfrm>
          <a:prstGeom prst="roundRect">
            <a:avLst>
              <a:gd name="adj" fmla="val 3243"/>
            </a:avLst>
          </a:prstGeom>
          <a:solidFill>
            <a:schemeClr val="bg2"/>
          </a:solidFill>
          <a:ln/>
        </p:spPr>
      </p:sp>
      <p:sp>
        <p:nvSpPr>
          <p:cNvPr id="4" name="Next card"/>
          <p:cNvSpPr/>
          <p:nvPr/>
        </p:nvSpPr>
        <p:spPr>
          <a:xfrm>
            <a:off x="6492240" y="1463040"/>
            <a:ext cx="5120640" cy="3383280"/>
          </a:xfrm>
          <a:prstGeom prst="roundRect">
            <a:avLst>
              <a:gd name="adj" fmla="val 3243"/>
            </a:avLst>
          </a:prstGeom>
          <a:solidFill>
            <a:schemeClr val="tx2"/>
          </a:solidFill>
          <a:ln/>
        </p:spPr>
      </p:sp>
      <p:sp>
        <p:nvSpPr>
          <p:cNvPr id="5" name="Today circle"/>
          <p:cNvSpPr/>
          <p:nvPr/>
        </p:nvSpPr>
        <p:spPr>
          <a:xfrm>
            <a:off x="868680" y="1783080"/>
            <a:ext cx="731520" cy="731520"/>
          </a:xfrm>
          <a:prstGeom prst="ellipse">
            <a:avLst/>
          </a:prstGeom>
          <a:solidFill>
            <a:schemeClr val="accent3"/>
          </a:solidFill>
          <a:ln/>
        </p:spPr>
      </p:sp>
      <p:pic>
        <p:nvPicPr>
          <p:cNvPr id="6" name="Today icon"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7" name="Next circle"/>
          <p:cNvSpPr/>
          <p:nvPr/>
        </p:nvSpPr>
        <p:spPr>
          <a:xfrm>
            <a:off x="6812280" y="1783080"/>
            <a:ext cx="731520" cy="731520"/>
          </a:xfrm>
          <a:prstGeom prst="ellipse">
            <a:avLst/>
          </a:prstGeom>
          <a:solidFill>
            <a:schemeClr val="accent1"/>
          </a:solidFill>
          <a:ln/>
        </p:spPr>
      </p:sp>
      <p:pic>
        <p:nvPicPr>
          <p:cNvPr id="8" name="Next icon" descr="preencoded.png">    </p:cNvPr>
          <p:cNvPicPr>
            <a:picLocks noChangeAspect="1"/>
          </p:cNvPicPr>
          <p:nvPr/>
        </p:nvPicPr>
        <p:blipFill>
          <a:blip r:embed="rId2"/>
          <a:stretch>
            <a:fillRect/>
          </a:stretch>
        </p:blipFill>
        <p:spPr>
          <a:xfrm>
            <a:off x="6995160" y="1965960"/>
            <a:ext cx="365760" cy="365760"/>
          </a:xfrm>
          <a:prstGeom prst="rect">
            <a:avLst/>
          </a:prstGeom>
        </p:spPr>
      </p:pic>
      <p:sp>
        <p:nvSpPr>
          <p:cNvPr id="9" name="Today heading"/>
          <p:cNvSpPr txBox="1"/>
          <p:nvPr/>
        </p:nvSpPr>
        <p:spPr>
          <a:xfrm>
            <a:off x="1783080" y="1828800"/>
            <a:ext cx="3749040" cy="640080"/>
          </a:xfrm>
          <a:prstGeom prst="rect">
            <a:avLst/>
          </a:prstGeom>
          <a:noFill/>
          <a:ln/>
        </p:spPr>
        <p:txBody>
          <a:bodyPr wrap="square" lIns="0" tIns="0" rIns="0" bIns="0" rtlCol="0" anchor="ctr"/>
          <a:lstStyle/>
          <a:p>
            <a:pPr indent="0" marL="0">
              <a:buNone/>
            </a:pPr>
            <a:r>
              <a:rPr lang="en-US" sz="2000" b="1" dirty="0">
                <a:solidFill>
                  <a:schemeClr val="tx2"/>
                </a:solidFill>
              </a:rPr>
              <a:t>Today: diagnostics (read only)</a:t>
            </a:r>
            <a:endParaRPr lang="en-US" sz="2000" dirty="0"/>
          </a:p>
        </p:txBody>
      </p:sp>
      <p:sp>
        <p:nvSpPr>
          <p:cNvPr id="10" name="Today list"/>
          <p:cNvSpPr txBox="1"/>
          <p:nvPr/>
        </p:nvSpPr>
        <p:spPr>
          <a:xfrm>
            <a:off x="868680" y="2788920"/>
            <a:ext cx="4526280" cy="1828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Microsoft 365 &amp; Identity Diagnostic</a:t>
            </a:r>
            <a:endParaRPr lang="en-US" sz="1600" dirty="0"/>
          </a:p>
          <a:p>
            <a:pPr marL="342900" indent="-342900">
              <a:spcAft>
                <a:spcPts val="1000"/>
              </a:spcAft>
              <a:buSzPct val="100000"/>
              <a:buChar char="•"/>
            </a:pPr>
            <a:r>
              <a:rPr lang="en-US" sz="1600" dirty="0">
                <a:solidFill>
                  <a:schemeClr val="tx1"/>
                </a:solidFill>
              </a:rPr>
              <a:t>Application Crash &amp; Stability Analyzer</a:t>
            </a:r>
            <a:endParaRPr lang="en-US" sz="1600" dirty="0"/>
          </a:p>
          <a:p>
            <a:pPr marL="342900" indent="-342900">
              <a:spcAft>
                <a:spcPts val="1000"/>
              </a:spcAft>
              <a:buSzPct val="100000"/>
              <a:buChar char="•"/>
            </a:pPr>
            <a:r>
              <a:rPr lang="en-US" sz="1600" dirty="0">
                <a:solidFill>
                  <a:schemeClr val="tx1"/>
                </a:solidFill>
              </a:rPr>
              <a:t>Tell us what is wrong, but a technician still has to fix it by hand</a:t>
            </a:r>
            <a:endParaRPr lang="en-US" sz="1600" dirty="0"/>
          </a:p>
        </p:txBody>
      </p:sp>
      <p:sp>
        <p:nvSpPr>
          <p:cNvPr id="11" name="Next heading"/>
          <p:cNvSpPr txBox="1"/>
          <p:nvPr/>
        </p:nvSpPr>
        <p:spPr>
          <a:xfrm>
            <a:off x="7726680" y="1828800"/>
            <a:ext cx="3749040" cy="640080"/>
          </a:xfrm>
          <a:prstGeom prst="rect">
            <a:avLst/>
          </a:prstGeom>
          <a:noFill/>
          <a:ln/>
        </p:spPr>
        <p:txBody>
          <a:bodyPr wrap="square" lIns="0" tIns="0" rIns="0" bIns="0" rtlCol="0" anchor="ctr"/>
          <a:lstStyle/>
          <a:p>
            <a:pPr indent="0" marL="0">
              <a:buNone/>
            </a:pPr>
            <a:r>
              <a:rPr lang="en-US" sz="2000" b="1" dirty="0">
                <a:solidFill>
                  <a:schemeClr val="bg1"/>
                </a:solidFill>
              </a:rPr>
              <a:t>Next: remediation (fixes)</a:t>
            </a:r>
            <a:endParaRPr lang="en-US" sz="2000" dirty="0"/>
          </a:p>
        </p:txBody>
      </p:sp>
      <p:sp>
        <p:nvSpPr>
          <p:cNvPr id="12" name="Next list"/>
          <p:cNvSpPr txBox="1"/>
          <p:nvPr/>
        </p:nvSpPr>
        <p:spPr>
          <a:xfrm>
            <a:off x="6812280" y="2788920"/>
            <a:ext cx="4526280" cy="1828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Teams Cache Reset</a:t>
            </a:r>
            <a:endParaRPr lang="en-US" sz="1600" dirty="0"/>
          </a:p>
          <a:p>
            <a:pPr marL="342900" indent="-342900">
              <a:spcAft>
                <a:spcPts val="1000"/>
              </a:spcAft>
              <a:buSzPct val="100000"/>
              <a:buChar char="•"/>
            </a:pPr>
            <a:r>
              <a:rPr lang="en-US" sz="1600" dirty="0">
                <a:solidFill>
                  <a:schemeClr val="bg1"/>
                </a:solidFill>
              </a:rPr>
              <a:t>Disk Space Cleanup</a:t>
            </a:r>
            <a:endParaRPr lang="en-US" sz="1600" dirty="0"/>
          </a:p>
          <a:p>
            <a:pPr marL="342900" indent="-342900">
              <a:spcAft>
                <a:spcPts val="1000"/>
              </a:spcAft>
              <a:buSzPct val="100000"/>
              <a:buChar char="•"/>
            </a:pPr>
            <a:r>
              <a:rPr lang="en-US" sz="1600" dirty="0">
                <a:solidFill>
                  <a:schemeClr val="bg1"/>
                </a:solidFill>
              </a:rPr>
              <a:t>Run from ZDX on the affected device and report back what was fixed</a:t>
            </a:r>
            <a:endParaRPr lang="en-US" sz="1600" dirty="0"/>
          </a:p>
        </p:txBody>
      </p:sp>
      <p:sp>
        <p:nvSpPr>
          <p:cNvPr id="13" name="Arrow"/>
          <p:cNvSpPr/>
          <p:nvPr/>
        </p:nvSpPr>
        <p:spPr>
          <a:xfrm>
            <a:off x="5788152" y="2880360"/>
            <a:ext cx="594360" cy="548640"/>
          </a:xfrm>
          <a:prstGeom prst="rightArrow">
            <a:avLst/>
          </a:prstGeom>
          <a:solidFill>
            <a:schemeClr val="accent1"/>
          </a:solidFill>
          <a:ln/>
        </p:spPr>
      </p:sp>
      <p:sp>
        <p:nvSpPr>
          <p:cNvPr id="14" name="Footnote"/>
          <p:cNvSpPr txBox="1"/>
          <p:nvPr/>
        </p:nvSpPr>
        <p:spPr>
          <a:xfrm>
            <a:off x="548640" y="5212080"/>
            <a:ext cx="11064240" cy="365760"/>
          </a:xfrm>
          <a:prstGeom prst="rect">
            <a:avLst/>
          </a:prstGeom>
          <a:noFill/>
          <a:ln/>
        </p:spPr>
        <p:txBody>
          <a:bodyPr wrap="square" lIns="0" tIns="0" rIns="0" bIns="0" rtlCol="0" anchor="ctr"/>
          <a:lstStyle/>
          <a:p>
            <a:pPr indent="0" marL="0">
              <a:buNone/>
            </a:pPr>
            <a:r>
              <a:rPr lang="en-US" sz="1400" i="1" dirty="0">
                <a:solidFill>
                  <a:schemeClr val="accent6"/>
                </a:solidFill>
              </a:rPr>
              <a:t>Same format, same signing process and same ZDX output as the existing scripts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Script 1: Teams Cache Reset</a:t>
            </a:r>
            <a:endParaRPr lang="en-US" sz="3400" dirty="0"/>
          </a:p>
        </p:txBody>
      </p:sp>
      <p:sp>
        <p:nvSpPr>
          <p:cNvPr id="3" name="Fixes line"/>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800" b="1" dirty="0">
                <a:solidFill>
                  <a:schemeClr val="tx2"/>
                </a:solidFill>
              </a:rPr>
              <a:t>Fixes: </a:t>
            </a:r>
            <a:pPr indent="0" marL="0">
              <a:buNone/>
            </a:pPr>
            <a:r>
              <a:rPr lang="en-US" sz="1800" dirty="0">
                <a:solidFill>
                  <a:schemeClr val="tx1"/>
                </a:solidFill>
              </a:rPr>
              <a:t>Teams crashing, blank or white screen, sign-in loops, and messages not loading</a:t>
            </a:r>
            <a:endParaRPr lang="en-US" sz="1800" dirty="0"/>
          </a:p>
        </p:txBody>
      </p:sp>
      <p:sp>
        <p:nvSpPr>
          <p:cNvPr id="4" name="Step 1 card"/>
          <p:cNvSpPr/>
          <p:nvPr/>
        </p:nvSpPr>
        <p:spPr>
          <a:xfrm>
            <a:off x="548640" y="2103120"/>
            <a:ext cx="2514600" cy="3017520"/>
          </a:xfrm>
          <a:prstGeom prst="roundRect">
            <a:avLst>
              <a:gd name="adj" fmla="val 4364"/>
            </a:avLst>
          </a:prstGeom>
          <a:solidFill>
            <a:schemeClr val="bg2"/>
          </a:solidFill>
          <a:ln/>
        </p:spPr>
      </p:sp>
      <p:sp>
        <p:nvSpPr>
          <p:cNvPr id="5" name="Step 1 circle"/>
          <p:cNvSpPr/>
          <p:nvPr/>
        </p:nvSpPr>
        <p:spPr>
          <a:xfrm>
            <a:off x="822960" y="2377440"/>
            <a:ext cx="731520" cy="731520"/>
          </a:xfrm>
          <a:prstGeom prst="ellipse">
            <a:avLst/>
          </a:prstGeom>
          <a:solidFill>
            <a:schemeClr val="accent1"/>
          </a:solidFill>
          <a:ln/>
        </p:spPr>
      </p:sp>
      <p:pic>
        <p:nvPicPr>
          <p:cNvPr id="6" name="Step 1 icon" descr="preencoded.png">    </p:cNvPr>
          <p:cNvPicPr>
            <a:picLocks noChangeAspect="1"/>
          </p:cNvPicPr>
          <p:nvPr/>
        </p:nvPicPr>
        <p:blipFill>
          <a:blip r:embed="rId1"/>
          <a:stretch>
            <a:fillRect/>
          </a:stretch>
        </p:blipFill>
        <p:spPr>
          <a:xfrm>
            <a:off x="1005840" y="2560320"/>
            <a:ext cx="365760" cy="365760"/>
          </a:xfrm>
          <a:prstGeom prst="rect">
            <a:avLst/>
          </a:prstGeom>
        </p:spPr>
      </p:pic>
      <p:sp>
        <p:nvSpPr>
          <p:cNvPr id="7" name="Step 1 title"/>
          <p:cNvSpPr txBox="1"/>
          <p:nvPr/>
        </p:nvSpPr>
        <p:spPr>
          <a:xfrm>
            <a:off x="822960" y="3291840"/>
            <a:ext cx="1965960" cy="457200"/>
          </a:xfrm>
          <a:prstGeom prst="rect">
            <a:avLst/>
          </a:prstGeom>
          <a:noFill/>
          <a:ln/>
        </p:spPr>
        <p:txBody>
          <a:bodyPr wrap="square" lIns="0" tIns="0" rIns="0" bIns="0" rtlCol="0" anchor="ctr"/>
          <a:lstStyle/>
          <a:p>
            <a:pPr indent="0" marL="0">
              <a:buNone/>
            </a:pPr>
            <a:r>
              <a:rPr lang="en-US" sz="2000" b="1" dirty="0">
                <a:solidFill>
                  <a:schemeClr val="tx2"/>
                </a:solidFill>
              </a:rPr>
              <a:t>1. Check</a:t>
            </a:r>
            <a:endParaRPr lang="en-US" sz="2000" dirty="0"/>
          </a:p>
        </p:txBody>
      </p:sp>
      <p:sp>
        <p:nvSpPr>
          <p:cNvPr id="8" name="Step 1 text"/>
          <p:cNvSpPr txBox="1"/>
          <p:nvPr/>
        </p:nvSpPr>
        <p:spPr>
          <a:xfrm>
            <a:off x="822960" y="3794760"/>
            <a:ext cx="1965960" cy="1188720"/>
          </a:xfrm>
          <a:prstGeom prst="rect">
            <a:avLst/>
          </a:prstGeom>
          <a:noFill/>
          <a:ln/>
        </p:spPr>
        <p:txBody>
          <a:bodyPr wrap="square" lIns="0" tIns="0" rIns="0" bIns="0" rtlCol="0" anchor="t"/>
          <a:lstStyle/>
          <a:p>
            <a:pPr indent="0" marL="0">
              <a:buNone/>
            </a:pPr>
            <a:r>
              <a:rPr lang="en-US" sz="1400" dirty="0">
                <a:solidFill>
                  <a:schemeClr val="tx1"/>
                </a:solidFill>
              </a:rPr>
              <a:t>Finds the logged-on user and their Teams cache. Stops if the user is in a call</a:t>
            </a:r>
            <a:endParaRPr lang="en-US" sz="1400" dirty="0"/>
          </a:p>
        </p:txBody>
      </p:sp>
      <p:sp>
        <p:nvSpPr>
          <p:cNvPr id="9" name="Step 2 card"/>
          <p:cNvSpPr/>
          <p:nvPr/>
        </p:nvSpPr>
        <p:spPr>
          <a:xfrm>
            <a:off x="3398825" y="2103120"/>
            <a:ext cx="2514600" cy="3017520"/>
          </a:xfrm>
          <a:prstGeom prst="roundRect">
            <a:avLst>
              <a:gd name="adj" fmla="val 4364"/>
            </a:avLst>
          </a:prstGeom>
          <a:solidFill>
            <a:schemeClr val="bg2"/>
          </a:solidFill>
          <a:ln/>
        </p:spPr>
      </p:sp>
      <p:sp>
        <p:nvSpPr>
          <p:cNvPr id="10" name="Step 2 circle"/>
          <p:cNvSpPr/>
          <p:nvPr/>
        </p:nvSpPr>
        <p:spPr>
          <a:xfrm>
            <a:off x="3673145" y="2377440"/>
            <a:ext cx="731520" cy="731520"/>
          </a:xfrm>
          <a:prstGeom prst="ellipse">
            <a:avLst/>
          </a:prstGeom>
          <a:solidFill>
            <a:schemeClr val="accent1"/>
          </a:solidFill>
          <a:ln/>
        </p:spPr>
      </p:sp>
      <p:pic>
        <p:nvPicPr>
          <p:cNvPr id="11" name="Step 2 icon" descr="preencoded.png">    </p:cNvPr>
          <p:cNvPicPr>
            <a:picLocks noChangeAspect="1"/>
          </p:cNvPicPr>
          <p:nvPr/>
        </p:nvPicPr>
        <p:blipFill>
          <a:blip r:embed="rId2"/>
          <a:stretch>
            <a:fillRect/>
          </a:stretch>
        </p:blipFill>
        <p:spPr>
          <a:xfrm>
            <a:off x="3856025" y="2560320"/>
            <a:ext cx="365760" cy="365760"/>
          </a:xfrm>
          <a:prstGeom prst="rect">
            <a:avLst/>
          </a:prstGeom>
        </p:spPr>
      </p:pic>
      <p:sp>
        <p:nvSpPr>
          <p:cNvPr id="12" name="Step 2 title"/>
          <p:cNvSpPr txBox="1"/>
          <p:nvPr/>
        </p:nvSpPr>
        <p:spPr>
          <a:xfrm>
            <a:off x="3673145" y="3291840"/>
            <a:ext cx="1965960" cy="457200"/>
          </a:xfrm>
          <a:prstGeom prst="rect">
            <a:avLst/>
          </a:prstGeom>
          <a:noFill/>
          <a:ln/>
        </p:spPr>
        <p:txBody>
          <a:bodyPr wrap="square" lIns="0" tIns="0" rIns="0" bIns="0" rtlCol="0" anchor="ctr"/>
          <a:lstStyle/>
          <a:p>
            <a:pPr indent="0" marL="0">
              <a:buNone/>
            </a:pPr>
            <a:r>
              <a:rPr lang="en-US" sz="2000" b="1" dirty="0">
                <a:solidFill>
                  <a:schemeClr val="tx2"/>
                </a:solidFill>
              </a:rPr>
              <a:t>2. Close</a:t>
            </a:r>
            <a:endParaRPr lang="en-US" sz="2000" dirty="0"/>
          </a:p>
        </p:txBody>
      </p:sp>
      <p:sp>
        <p:nvSpPr>
          <p:cNvPr id="13" name="Step 2 text"/>
          <p:cNvSpPr txBox="1"/>
          <p:nvPr/>
        </p:nvSpPr>
        <p:spPr>
          <a:xfrm>
            <a:off x="3673145" y="3794760"/>
            <a:ext cx="1965960" cy="1188720"/>
          </a:xfrm>
          <a:prstGeom prst="rect">
            <a:avLst/>
          </a:prstGeom>
          <a:noFill/>
          <a:ln/>
        </p:spPr>
        <p:txBody>
          <a:bodyPr wrap="square" lIns="0" tIns="0" rIns="0" bIns="0" rtlCol="0" anchor="t"/>
          <a:lstStyle/>
          <a:p>
            <a:pPr indent="0" marL="0">
              <a:buNone/>
            </a:pPr>
            <a:r>
              <a:rPr lang="en-US" sz="1400" dirty="0">
                <a:solidFill>
                  <a:schemeClr val="tx1"/>
                </a:solidFill>
              </a:rPr>
              <a:t>Closes Teams for that user only</a:t>
            </a:r>
            <a:endParaRPr lang="en-US" sz="1400" dirty="0"/>
          </a:p>
        </p:txBody>
      </p:sp>
      <p:sp>
        <p:nvSpPr>
          <p:cNvPr id="14" name="Step 3 card"/>
          <p:cNvSpPr/>
          <p:nvPr/>
        </p:nvSpPr>
        <p:spPr>
          <a:xfrm>
            <a:off x="6249010" y="2103120"/>
            <a:ext cx="2514600" cy="3017520"/>
          </a:xfrm>
          <a:prstGeom prst="roundRect">
            <a:avLst>
              <a:gd name="adj" fmla="val 4364"/>
            </a:avLst>
          </a:prstGeom>
          <a:solidFill>
            <a:schemeClr val="bg2"/>
          </a:solidFill>
          <a:ln/>
        </p:spPr>
      </p:sp>
      <p:sp>
        <p:nvSpPr>
          <p:cNvPr id="15" name="Step 3 circle"/>
          <p:cNvSpPr/>
          <p:nvPr/>
        </p:nvSpPr>
        <p:spPr>
          <a:xfrm>
            <a:off x="6523330" y="2377440"/>
            <a:ext cx="731520" cy="731520"/>
          </a:xfrm>
          <a:prstGeom prst="ellipse">
            <a:avLst/>
          </a:prstGeom>
          <a:solidFill>
            <a:schemeClr val="accent1"/>
          </a:solidFill>
          <a:ln/>
        </p:spPr>
      </p:sp>
      <p:pic>
        <p:nvPicPr>
          <p:cNvPr id="16" name="Step 3 icon" descr="preencoded.png">    </p:cNvPr>
          <p:cNvPicPr>
            <a:picLocks noChangeAspect="1"/>
          </p:cNvPicPr>
          <p:nvPr/>
        </p:nvPicPr>
        <p:blipFill>
          <a:blip r:embed="rId3"/>
          <a:stretch>
            <a:fillRect/>
          </a:stretch>
        </p:blipFill>
        <p:spPr>
          <a:xfrm>
            <a:off x="6706210" y="2560320"/>
            <a:ext cx="365760" cy="365760"/>
          </a:xfrm>
          <a:prstGeom prst="rect">
            <a:avLst/>
          </a:prstGeom>
        </p:spPr>
      </p:pic>
      <p:sp>
        <p:nvSpPr>
          <p:cNvPr id="17" name="Step 3 title"/>
          <p:cNvSpPr txBox="1"/>
          <p:nvPr/>
        </p:nvSpPr>
        <p:spPr>
          <a:xfrm>
            <a:off x="6523330" y="3291840"/>
            <a:ext cx="1965960" cy="457200"/>
          </a:xfrm>
          <a:prstGeom prst="rect">
            <a:avLst/>
          </a:prstGeom>
          <a:noFill/>
          <a:ln/>
        </p:spPr>
        <p:txBody>
          <a:bodyPr wrap="square" lIns="0" tIns="0" rIns="0" bIns="0" rtlCol="0" anchor="ctr"/>
          <a:lstStyle/>
          <a:p>
            <a:pPr indent="0" marL="0">
              <a:buNone/>
            </a:pPr>
            <a:r>
              <a:rPr lang="en-US" sz="2000" b="1" dirty="0">
                <a:solidFill>
                  <a:schemeClr val="tx2"/>
                </a:solidFill>
              </a:rPr>
              <a:t>3. Reset</a:t>
            </a:r>
            <a:endParaRPr lang="en-US" sz="2000" dirty="0"/>
          </a:p>
        </p:txBody>
      </p:sp>
      <p:sp>
        <p:nvSpPr>
          <p:cNvPr id="18" name="Step 3 text"/>
          <p:cNvSpPr txBox="1"/>
          <p:nvPr/>
        </p:nvSpPr>
        <p:spPr>
          <a:xfrm>
            <a:off x="6523330" y="3794760"/>
            <a:ext cx="1965960" cy="1188720"/>
          </a:xfrm>
          <a:prstGeom prst="rect">
            <a:avLst/>
          </a:prstGeom>
          <a:noFill/>
          <a:ln/>
        </p:spPr>
        <p:txBody>
          <a:bodyPr wrap="square" lIns="0" tIns="0" rIns="0" bIns="0" rtlCol="0" anchor="t"/>
          <a:lstStyle/>
          <a:p>
            <a:pPr indent="0" marL="0">
              <a:buNone/>
            </a:pPr>
            <a:r>
              <a:rPr lang="en-US" sz="1400" dirty="0">
                <a:solidFill>
                  <a:schemeClr val="tx1"/>
                </a:solidFill>
              </a:rPr>
              <a:t>Renames the cache folder and keeps it as a backup</a:t>
            </a:r>
            <a:endParaRPr lang="en-US" sz="1400" dirty="0"/>
          </a:p>
        </p:txBody>
      </p:sp>
      <p:sp>
        <p:nvSpPr>
          <p:cNvPr id="19" name="Step 4 card"/>
          <p:cNvSpPr/>
          <p:nvPr/>
        </p:nvSpPr>
        <p:spPr>
          <a:xfrm>
            <a:off x="9099194" y="2103120"/>
            <a:ext cx="2514600" cy="3017520"/>
          </a:xfrm>
          <a:prstGeom prst="roundRect">
            <a:avLst>
              <a:gd name="adj" fmla="val 4364"/>
            </a:avLst>
          </a:prstGeom>
          <a:solidFill>
            <a:schemeClr val="bg2"/>
          </a:solidFill>
          <a:ln/>
        </p:spPr>
      </p:sp>
      <p:sp>
        <p:nvSpPr>
          <p:cNvPr id="20" name="Step 4 circle"/>
          <p:cNvSpPr/>
          <p:nvPr/>
        </p:nvSpPr>
        <p:spPr>
          <a:xfrm>
            <a:off x="9373514" y="2377440"/>
            <a:ext cx="731520" cy="731520"/>
          </a:xfrm>
          <a:prstGeom prst="ellipse">
            <a:avLst/>
          </a:prstGeom>
          <a:solidFill>
            <a:schemeClr val="accent1"/>
          </a:solidFill>
          <a:ln/>
        </p:spPr>
      </p:sp>
      <p:pic>
        <p:nvPicPr>
          <p:cNvPr id="21" name="Step 4 icon" descr="preencoded.png">    </p:cNvPr>
          <p:cNvPicPr>
            <a:picLocks noChangeAspect="1"/>
          </p:cNvPicPr>
          <p:nvPr/>
        </p:nvPicPr>
        <p:blipFill>
          <a:blip r:embed="rId4"/>
          <a:stretch>
            <a:fillRect/>
          </a:stretch>
        </p:blipFill>
        <p:spPr>
          <a:xfrm>
            <a:off x="9556394" y="2560320"/>
            <a:ext cx="365760" cy="365760"/>
          </a:xfrm>
          <a:prstGeom prst="rect">
            <a:avLst/>
          </a:prstGeom>
        </p:spPr>
      </p:pic>
      <p:sp>
        <p:nvSpPr>
          <p:cNvPr id="22" name="Step 4 title"/>
          <p:cNvSpPr txBox="1"/>
          <p:nvPr/>
        </p:nvSpPr>
        <p:spPr>
          <a:xfrm>
            <a:off x="9373514" y="3291840"/>
            <a:ext cx="1965960" cy="457200"/>
          </a:xfrm>
          <a:prstGeom prst="rect">
            <a:avLst/>
          </a:prstGeom>
          <a:noFill/>
          <a:ln/>
        </p:spPr>
        <p:txBody>
          <a:bodyPr wrap="square" lIns="0" tIns="0" rIns="0" bIns="0" rtlCol="0" anchor="ctr"/>
          <a:lstStyle/>
          <a:p>
            <a:pPr indent="0" marL="0">
              <a:buNone/>
            </a:pPr>
            <a:r>
              <a:rPr lang="en-US" sz="2000" b="1" dirty="0">
                <a:solidFill>
                  <a:schemeClr val="tx2"/>
                </a:solidFill>
              </a:rPr>
              <a:t>4. Reopen</a:t>
            </a:r>
            <a:endParaRPr lang="en-US" sz="2000" dirty="0"/>
          </a:p>
        </p:txBody>
      </p:sp>
      <p:sp>
        <p:nvSpPr>
          <p:cNvPr id="23" name="Step 4 text"/>
          <p:cNvSpPr txBox="1"/>
          <p:nvPr/>
        </p:nvSpPr>
        <p:spPr>
          <a:xfrm>
            <a:off x="9373514" y="3794760"/>
            <a:ext cx="1965960" cy="1188720"/>
          </a:xfrm>
          <a:prstGeom prst="rect">
            <a:avLst/>
          </a:prstGeom>
          <a:noFill/>
          <a:ln/>
        </p:spPr>
        <p:txBody>
          <a:bodyPr wrap="square" lIns="0" tIns="0" rIns="0" bIns="0" rtlCol="0" anchor="t"/>
          <a:lstStyle/>
          <a:p>
            <a:pPr indent="0" marL="0">
              <a:buNone/>
            </a:pPr>
            <a:r>
              <a:rPr lang="en-US" sz="1400" dirty="0">
                <a:solidFill>
                  <a:schemeClr val="tx1"/>
                </a:solidFill>
              </a:rPr>
              <a:t>Reopens Teams if it was open and reports the result</a:t>
            </a:r>
            <a:endParaRPr lang="en-US" sz="1400" dirty="0"/>
          </a:p>
        </p:txBody>
      </p:sp>
      <p:sp>
        <p:nvSpPr>
          <p:cNvPr id="24" name="Rollback line"/>
          <p:cNvSpPr txBox="1"/>
          <p:nvPr/>
        </p:nvSpPr>
        <p:spPr>
          <a:xfrm>
            <a:off x="548640" y="5440680"/>
            <a:ext cx="11064240" cy="457200"/>
          </a:xfrm>
          <a:prstGeom prst="rect">
            <a:avLst/>
          </a:prstGeom>
          <a:noFill/>
          <a:ln/>
        </p:spPr>
        <p:txBody>
          <a:bodyPr wrap="square" lIns="0" tIns="0" rIns="0" bIns="0" rtlCol="0" anchor="ctr"/>
          <a:lstStyle/>
          <a:p>
            <a:pPr indent="0" marL="0">
              <a:buNone/>
            </a:pPr>
            <a:r>
              <a:rPr lang="en-US" sz="1600" b="1" dirty="0">
                <a:solidFill>
                  <a:schemeClr val="tx2"/>
                </a:solidFill>
              </a:rPr>
              <a:t>Rollback: </a:t>
            </a:r>
            <a:pPr indent="0" marL="0">
              <a:buNone/>
            </a:pPr>
            <a:r>
              <a:rPr lang="en-US" sz="1600" dirty="0">
                <a:solidFill>
                  <a:schemeClr val="tx1"/>
                </a:solidFill>
              </a:rPr>
              <a:t>the old cache is kept, so it can be restored by renaming the backup folder back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Script 2: Disk Space Cleanup</a:t>
            </a:r>
            <a:endParaRPr lang="en-US" sz="3400" dirty="0"/>
          </a:p>
        </p:txBody>
      </p:sp>
      <p:sp>
        <p:nvSpPr>
          <p:cNvPr id="3" name="Trigger card"/>
          <p:cNvSpPr/>
          <p:nvPr/>
        </p:nvSpPr>
        <p:spPr>
          <a:xfrm>
            <a:off x="548640" y="1463040"/>
            <a:ext cx="3291840" cy="4480560"/>
          </a:xfrm>
          <a:prstGeom prst="roundRect">
            <a:avLst>
              <a:gd name="adj" fmla="val 3333"/>
            </a:avLst>
          </a:prstGeom>
          <a:solidFill>
            <a:schemeClr val="tx2"/>
          </a:solidFill>
          <a:ln/>
        </p:spPr>
      </p:sp>
      <p:sp>
        <p:nvSpPr>
          <p:cNvPr id="4" name="Trigger label"/>
          <p:cNvSpPr txBox="1"/>
          <p:nvPr/>
        </p:nvSpPr>
        <p:spPr>
          <a:xfrm>
            <a:off x="822960" y="1783080"/>
            <a:ext cx="2743200" cy="457200"/>
          </a:xfrm>
          <a:prstGeom prst="rect">
            <a:avLst/>
          </a:prstGeom>
          <a:noFill/>
          <a:ln/>
        </p:spPr>
        <p:txBody>
          <a:bodyPr wrap="square" lIns="0" tIns="0" rIns="0" bIns="0" rtlCol="0" anchor="ctr"/>
          <a:lstStyle/>
          <a:p>
            <a:pPr indent="0" marL="0">
              <a:buNone/>
            </a:pPr>
            <a:r>
              <a:rPr lang="en-US" sz="1600" dirty="0">
                <a:solidFill>
                  <a:schemeClr val="accent4"/>
                </a:solidFill>
              </a:rPr>
              <a:t>Runs only when C: has</a:t>
            </a:r>
            <a:endParaRPr lang="en-US" sz="1600" dirty="0"/>
          </a:p>
        </p:txBody>
      </p:sp>
      <p:sp>
        <p:nvSpPr>
          <p:cNvPr id="5" name="Trigger number"/>
          <p:cNvSpPr txBox="1"/>
          <p:nvPr/>
        </p:nvSpPr>
        <p:spPr>
          <a:xfrm>
            <a:off x="822960" y="2286000"/>
            <a:ext cx="2743200" cy="1097280"/>
          </a:xfrm>
          <a:prstGeom prst="rect">
            <a:avLst/>
          </a:prstGeom>
          <a:noFill/>
          <a:ln/>
        </p:spPr>
        <p:txBody>
          <a:bodyPr wrap="square" lIns="0" tIns="0" rIns="0" bIns="0" rtlCol="0" anchor="ctr"/>
          <a:lstStyle/>
          <a:p>
            <a:pPr indent="0" marL="0">
              <a:buNone/>
            </a:pPr>
            <a:r>
              <a:rPr lang="en-US" sz="6600" b="1" dirty="0">
                <a:solidFill>
                  <a:schemeClr val="bg1"/>
                </a:solidFill>
              </a:rPr>
              <a:t>20 GB</a:t>
            </a:r>
            <a:endParaRPr lang="en-US" sz="6600" dirty="0"/>
          </a:p>
        </p:txBody>
      </p:sp>
      <p:sp>
        <p:nvSpPr>
          <p:cNvPr id="6" name="Trigger unit"/>
          <p:cNvSpPr txBox="1"/>
          <p:nvPr/>
        </p:nvSpPr>
        <p:spPr>
          <a:xfrm>
            <a:off x="822960" y="3383280"/>
            <a:ext cx="2743200" cy="457200"/>
          </a:xfrm>
          <a:prstGeom prst="rect">
            <a:avLst/>
          </a:prstGeom>
          <a:noFill/>
          <a:ln/>
        </p:spPr>
        <p:txBody>
          <a:bodyPr wrap="square" lIns="0" tIns="0" rIns="0" bIns="0" rtlCol="0" anchor="ctr"/>
          <a:lstStyle/>
          <a:p>
            <a:pPr indent="0" marL="0">
              <a:buNone/>
            </a:pPr>
            <a:r>
              <a:rPr lang="en-US" sz="2000" b="1" dirty="0">
                <a:solidFill>
                  <a:schemeClr val="accent1"/>
                </a:solidFill>
              </a:rPr>
              <a:t>free or less</a:t>
            </a:r>
            <a:endParaRPr lang="en-US" sz="2000" dirty="0"/>
          </a:p>
        </p:txBody>
      </p:sp>
      <p:sp>
        <p:nvSpPr>
          <p:cNvPr id="7" name="Trigger note"/>
          <p:cNvSpPr txBox="1"/>
          <p:nvPr/>
        </p:nvSpPr>
        <p:spPr>
          <a:xfrm>
            <a:off x="822960" y="4206240"/>
            <a:ext cx="2743200" cy="1280160"/>
          </a:xfrm>
          <a:prstGeom prst="rect">
            <a:avLst/>
          </a:prstGeom>
          <a:noFill/>
          <a:ln/>
        </p:spPr>
        <p:txBody>
          <a:bodyPr wrap="square" lIns="0" tIns="0" rIns="0" bIns="0" rtlCol="0" anchor="t"/>
          <a:lstStyle/>
          <a:p>
            <a:pPr indent="0" marL="0">
              <a:buNone/>
            </a:pPr>
            <a:r>
              <a:rPr lang="en-US" sz="1400" dirty="0">
                <a:solidFill>
                  <a:schemeClr val="bg1"/>
                </a:solidFill>
              </a:rPr>
              <a:t>Above that, it changes nothing and reports "No action needed"</a:t>
            </a:r>
            <a:endParaRPr lang="en-US" sz="1400" dirty="0"/>
          </a:p>
        </p:txBody>
      </p:sp>
      <p:sp>
        <p:nvSpPr>
          <p:cNvPr id="8" name="Cleans card"/>
          <p:cNvSpPr/>
          <p:nvPr/>
        </p:nvSpPr>
        <p:spPr>
          <a:xfrm>
            <a:off x="4160520" y="1463040"/>
            <a:ext cx="3931920" cy="4480560"/>
          </a:xfrm>
          <a:prstGeom prst="roundRect">
            <a:avLst>
              <a:gd name="adj" fmla="val 2791"/>
            </a:avLst>
          </a:prstGeom>
          <a:solidFill>
            <a:schemeClr val="bg2"/>
          </a:solidFill>
          <a:ln/>
        </p:spPr>
      </p:sp>
      <p:sp>
        <p:nvSpPr>
          <p:cNvPr id="9" name="Cleans circle"/>
          <p:cNvSpPr/>
          <p:nvPr/>
        </p:nvSpPr>
        <p:spPr>
          <a:xfrm>
            <a:off x="4434840" y="1737360"/>
            <a:ext cx="640080" cy="640080"/>
          </a:xfrm>
          <a:prstGeom prst="ellipse">
            <a:avLst/>
          </a:prstGeom>
          <a:solidFill>
            <a:schemeClr val="accent1"/>
          </a:solidFill>
          <a:ln/>
        </p:spPr>
      </p:sp>
      <p:pic>
        <p:nvPicPr>
          <p:cNvPr id="10" name="Cleans icon" descr="preencoded.png">    </p:cNvPr>
          <p:cNvPicPr>
            <a:picLocks noChangeAspect="1"/>
          </p:cNvPicPr>
          <p:nvPr/>
        </p:nvPicPr>
        <p:blipFill>
          <a:blip r:embed="rId1"/>
          <a:stretch>
            <a:fillRect/>
          </a:stretch>
        </p:blipFill>
        <p:spPr>
          <a:xfrm>
            <a:off x="4594860" y="1897380"/>
            <a:ext cx="320040" cy="320040"/>
          </a:xfrm>
          <a:prstGeom prst="rect">
            <a:avLst/>
          </a:prstGeom>
        </p:spPr>
      </p:pic>
      <p:sp>
        <p:nvSpPr>
          <p:cNvPr id="11" name="Cleans heading"/>
          <p:cNvSpPr txBox="1"/>
          <p:nvPr/>
        </p:nvSpPr>
        <p:spPr>
          <a:xfrm>
            <a:off x="5212080" y="1737360"/>
            <a:ext cx="2743200" cy="640080"/>
          </a:xfrm>
          <a:prstGeom prst="rect">
            <a:avLst/>
          </a:prstGeom>
          <a:noFill/>
          <a:ln/>
        </p:spPr>
        <p:txBody>
          <a:bodyPr wrap="square" lIns="0" tIns="0" rIns="0" bIns="0" rtlCol="0" anchor="ctr"/>
          <a:lstStyle/>
          <a:p>
            <a:pPr indent="0" marL="0">
              <a:buNone/>
            </a:pPr>
            <a:r>
              <a:rPr lang="en-US" sz="2000" b="1" dirty="0">
                <a:solidFill>
                  <a:schemeClr val="tx2"/>
                </a:solidFill>
              </a:rPr>
              <a:t>What it cleans</a:t>
            </a:r>
            <a:endParaRPr lang="en-US" sz="2000" dirty="0"/>
          </a:p>
        </p:txBody>
      </p:sp>
      <p:sp>
        <p:nvSpPr>
          <p:cNvPr id="12" name="Cleans list"/>
          <p:cNvSpPr txBox="1"/>
          <p:nvPr/>
        </p:nvSpPr>
        <p:spPr>
          <a:xfrm>
            <a:off x="4434840" y="2606040"/>
            <a:ext cx="347472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Windows and user temp files</a:t>
            </a:r>
            <a:endParaRPr lang="en-US" sz="1400" dirty="0"/>
          </a:p>
          <a:p>
            <a:pPr marL="342900" indent="-342900">
              <a:spcAft>
                <a:spcPts val="600"/>
              </a:spcAft>
              <a:buSzPct val="100000"/>
              <a:buChar char="•"/>
            </a:pPr>
            <a:r>
              <a:rPr lang="en-US" sz="1400" dirty="0">
                <a:solidFill>
                  <a:schemeClr val="tx1"/>
                </a:solidFill>
              </a:rPr>
              <a:t>Browser cache (Edge and Chrome)</a:t>
            </a:r>
            <a:endParaRPr lang="en-US" sz="1400" dirty="0"/>
          </a:p>
          <a:p>
            <a:pPr marL="342900" indent="-342900">
              <a:spcAft>
                <a:spcPts val="600"/>
              </a:spcAft>
              <a:buSzPct val="100000"/>
              <a:buChar char="•"/>
            </a:pPr>
            <a:r>
              <a:rPr lang="en-US" sz="1400" dirty="0">
                <a:solidFill>
                  <a:schemeClr val="tx1"/>
                </a:solidFill>
              </a:rPr>
              <a:t>Crash dumps and error reports</a:t>
            </a:r>
            <a:endParaRPr lang="en-US" sz="1400" dirty="0"/>
          </a:p>
          <a:p>
            <a:pPr marL="342900" indent="-342900">
              <a:spcAft>
                <a:spcPts val="600"/>
              </a:spcAft>
              <a:buSzPct val="100000"/>
              <a:buChar char="•"/>
            </a:pPr>
            <a:r>
              <a:rPr lang="en-US" sz="1400" dirty="0">
                <a:solidFill>
                  <a:schemeClr val="tx1"/>
                </a:solidFill>
              </a:rPr>
              <a:t>Recycle Bin</a:t>
            </a:r>
            <a:endParaRPr lang="en-US" sz="1400" dirty="0"/>
          </a:p>
          <a:p>
            <a:pPr marL="342900" indent="-342900">
              <a:spcAft>
                <a:spcPts val="600"/>
              </a:spcAft>
              <a:buSzPct val="100000"/>
              <a:buChar char="•"/>
            </a:pPr>
            <a:r>
              <a:rPr lang="en-US" sz="1400" dirty="0">
                <a:solidFill>
                  <a:schemeClr val="tx1"/>
                </a:solidFill>
              </a:rPr>
              <a:t>Windows Update caches</a:t>
            </a:r>
            <a:endParaRPr lang="en-US" sz="1400" dirty="0"/>
          </a:p>
          <a:p>
            <a:pPr marL="342900" indent="-342900">
              <a:spcAft>
                <a:spcPts val="600"/>
              </a:spcAft>
              <a:buSzPct val="100000"/>
              <a:buChar char="•"/>
            </a:pPr>
            <a:r>
              <a:rPr lang="en-US" sz="1400" dirty="0">
                <a:solidFill>
                  <a:schemeClr val="tx1"/>
                </a:solidFill>
              </a:rPr>
              <a:t>Windows Disk Cleanup, incl. Windows.old over 10 days old</a:t>
            </a:r>
            <a:endParaRPr lang="en-US" sz="1400" dirty="0"/>
          </a:p>
        </p:txBody>
      </p:sp>
      <p:sp>
        <p:nvSpPr>
          <p:cNvPr id="13" name="Never card"/>
          <p:cNvSpPr/>
          <p:nvPr/>
        </p:nvSpPr>
        <p:spPr>
          <a:xfrm>
            <a:off x="8412480" y="1463040"/>
            <a:ext cx="3200400" cy="4480560"/>
          </a:xfrm>
          <a:prstGeom prst="roundRect">
            <a:avLst>
              <a:gd name="adj" fmla="val 3429"/>
            </a:avLst>
          </a:prstGeom>
          <a:solidFill>
            <a:schemeClr val="bg2"/>
          </a:solidFill>
          <a:ln/>
        </p:spPr>
      </p:sp>
      <p:sp>
        <p:nvSpPr>
          <p:cNvPr id="14" name="Never circle"/>
          <p:cNvSpPr/>
          <p:nvPr/>
        </p:nvSpPr>
        <p:spPr>
          <a:xfrm>
            <a:off x="8686800" y="1737360"/>
            <a:ext cx="640080" cy="640080"/>
          </a:xfrm>
          <a:prstGeom prst="ellipse">
            <a:avLst/>
          </a:prstGeom>
          <a:solidFill>
            <a:schemeClr val="accent2"/>
          </a:solidFill>
          <a:ln/>
        </p:spPr>
      </p:sp>
      <p:pic>
        <p:nvPicPr>
          <p:cNvPr id="15" name="Never icon" descr="preencoded.png">    </p:cNvPr>
          <p:cNvPicPr>
            <a:picLocks noChangeAspect="1"/>
          </p:cNvPicPr>
          <p:nvPr/>
        </p:nvPicPr>
        <p:blipFill>
          <a:blip r:embed="rId2"/>
          <a:stretch>
            <a:fillRect/>
          </a:stretch>
        </p:blipFill>
        <p:spPr>
          <a:xfrm>
            <a:off x="8846820" y="1897380"/>
            <a:ext cx="320040" cy="320040"/>
          </a:xfrm>
          <a:prstGeom prst="rect">
            <a:avLst/>
          </a:prstGeom>
        </p:spPr>
      </p:pic>
      <p:sp>
        <p:nvSpPr>
          <p:cNvPr id="16" name="Never heading"/>
          <p:cNvSpPr txBox="1"/>
          <p:nvPr/>
        </p:nvSpPr>
        <p:spPr>
          <a:xfrm>
            <a:off x="9464040" y="1737360"/>
            <a:ext cx="2011680" cy="640080"/>
          </a:xfrm>
          <a:prstGeom prst="rect">
            <a:avLst/>
          </a:prstGeom>
          <a:noFill/>
          <a:ln/>
        </p:spPr>
        <p:txBody>
          <a:bodyPr wrap="square" lIns="0" tIns="0" rIns="0" bIns="0" rtlCol="0" anchor="ctr"/>
          <a:lstStyle/>
          <a:p>
            <a:pPr indent="0" marL="0">
              <a:buNone/>
            </a:pPr>
            <a:r>
              <a:rPr lang="en-US" sz="2000" b="1" dirty="0">
                <a:solidFill>
                  <a:schemeClr val="tx2"/>
                </a:solidFill>
              </a:rPr>
              <a:t>Never touches</a:t>
            </a:r>
            <a:endParaRPr lang="en-US" sz="2000" dirty="0"/>
          </a:p>
        </p:txBody>
      </p:sp>
      <p:sp>
        <p:nvSpPr>
          <p:cNvPr id="17" name="Never list"/>
          <p:cNvSpPr txBox="1"/>
          <p:nvPr/>
        </p:nvSpPr>
        <p:spPr>
          <a:xfrm>
            <a:off x="8686800" y="2606040"/>
            <a:ext cx="274320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Documents, Desktop, Downloads</a:t>
            </a:r>
            <a:endParaRPr lang="en-US" sz="1400" dirty="0"/>
          </a:p>
          <a:p>
            <a:pPr marL="342900" indent="-342900">
              <a:spcAft>
                <a:spcPts val="600"/>
              </a:spcAft>
              <a:buSzPct val="100000"/>
              <a:buChar char="•"/>
            </a:pPr>
            <a:r>
              <a:rPr lang="en-US" sz="1400" dirty="0">
                <a:solidFill>
                  <a:schemeClr val="tx1"/>
                </a:solidFill>
              </a:rPr>
              <a:t>Browser cookies, passwords, history</a:t>
            </a:r>
            <a:endParaRPr lang="en-US" sz="1400" dirty="0"/>
          </a:p>
          <a:p>
            <a:pPr marL="342900" indent="-342900">
              <a:spcAft>
                <a:spcPts val="600"/>
              </a:spcAft>
              <a:buSzPct val="100000"/>
              <a:buChar char="•"/>
            </a:pPr>
            <a:r>
              <a:rPr lang="en-US" sz="1400" dirty="0">
                <a:solidFill>
                  <a:schemeClr val="tx1"/>
                </a:solidFill>
              </a:rPr>
              <a:t>Cache of a browser that is open</a:t>
            </a:r>
            <a:endParaRPr lang="en-US" sz="1400" dirty="0"/>
          </a:p>
          <a:p>
            <a:pPr marL="342900" indent="-342900">
              <a:spcAft>
                <a:spcPts val="600"/>
              </a:spcAft>
              <a:buSzPct val="100000"/>
              <a:buChar char="•"/>
            </a:pPr>
            <a:r>
              <a:rPr lang="en-US" sz="1400" dirty="0">
                <a:solidFill>
                  <a:schemeClr val="tx1"/>
                </a:solidFill>
              </a:rPr>
              <a:t>Files newer than 24 hours in temp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Built to be safe on user devices</a:t>
            </a:r>
            <a:endParaRPr lang="en-US" sz="3400" dirty="0"/>
          </a:p>
        </p:txBody>
      </p:sp>
      <p:sp>
        <p:nvSpPr>
          <p:cNvPr id="3" name="Safety 1 card"/>
          <p:cNvSpPr/>
          <p:nvPr/>
        </p:nvSpPr>
        <p:spPr>
          <a:xfrm>
            <a:off x="548640" y="1417320"/>
            <a:ext cx="3520440" cy="2148840"/>
          </a:xfrm>
          <a:prstGeom prst="roundRect">
            <a:avLst>
              <a:gd name="adj" fmla="val 5106"/>
            </a:avLst>
          </a:prstGeom>
          <a:solidFill>
            <a:schemeClr val="bg2"/>
          </a:solidFill>
          <a:ln/>
        </p:spPr>
      </p:sp>
      <p:sp>
        <p:nvSpPr>
          <p:cNvPr id="4" name="Safety 1 circle"/>
          <p:cNvSpPr/>
          <p:nvPr/>
        </p:nvSpPr>
        <p:spPr>
          <a:xfrm>
            <a:off x="822960" y="1691640"/>
            <a:ext cx="685800" cy="685800"/>
          </a:xfrm>
          <a:prstGeom prst="ellipse">
            <a:avLst/>
          </a:prstGeom>
          <a:solidFill>
            <a:schemeClr val="accent1"/>
          </a:solidFill>
          <a:ln/>
        </p:spPr>
      </p:sp>
      <p:pic>
        <p:nvPicPr>
          <p:cNvPr id="5" name="Safety 1 icon" descr="preencoded.png">    </p:cNvPr>
          <p:cNvPicPr>
            <a:picLocks noChangeAspect="1"/>
          </p:cNvPicPr>
          <p:nvPr/>
        </p:nvPicPr>
        <p:blipFill>
          <a:blip r:embed="rId1"/>
          <a:stretch>
            <a:fillRect/>
          </a:stretch>
        </p:blipFill>
        <p:spPr>
          <a:xfrm>
            <a:off x="994410" y="1863090"/>
            <a:ext cx="342900" cy="342900"/>
          </a:xfrm>
          <a:prstGeom prst="rect">
            <a:avLst/>
          </a:prstGeom>
        </p:spPr>
      </p:pic>
      <p:sp>
        <p:nvSpPr>
          <p:cNvPr id="6" name="Safety 1 title"/>
          <p:cNvSpPr txBox="1"/>
          <p:nvPr/>
        </p:nvSpPr>
        <p:spPr>
          <a:xfrm>
            <a:off x="1691640" y="1691640"/>
            <a:ext cx="2148840" cy="685800"/>
          </a:xfrm>
          <a:prstGeom prst="rect">
            <a:avLst/>
          </a:prstGeom>
          <a:noFill/>
          <a:ln/>
        </p:spPr>
        <p:txBody>
          <a:bodyPr wrap="square" lIns="0" tIns="0" rIns="0" bIns="0" rtlCol="0" anchor="ctr"/>
          <a:lstStyle/>
          <a:p>
            <a:pPr indent="0" marL="0">
              <a:buNone/>
            </a:pPr>
            <a:r>
              <a:rPr lang="en-US" sz="1800" b="1" dirty="0">
                <a:solidFill>
                  <a:schemeClr val="tx2"/>
                </a:solidFill>
              </a:rPr>
              <a:t>Checks before acting</a:t>
            </a:r>
            <a:endParaRPr lang="en-US" sz="1800" dirty="0"/>
          </a:p>
        </p:txBody>
      </p:sp>
      <p:sp>
        <p:nvSpPr>
          <p:cNvPr id="7" name="Safety 1 text"/>
          <p:cNvSpPr txBox="1"/>
          <p:nvPr/>
        </p:nvSpPr>
        <p:spPr>
          <a:xfrm>
            <a:off x="822960" y="2560320"/>
            <a:ext cx="2971800" cy="822960"/>
          </a:xfrm>
          <a:prstGeom prst="rect">
            <a:avLst/>
          </a:prstGeom>
          <a:noFill/>
          <a:ln/>
        </p:spPr>
        <p:txBody>
          <a:bodyPr wrap="square" lIns="0" tIns="0" rIns="0" bIns="0" rtlCol="0" anchor="t"/>
          <a:lstStyle/>
          <a:p>
            <a:pPr indent="0" marL="0">
              <a:buNone/>
            </a:pPr>
            <a:r>
              <a:rPr lang="en-US" sz="1400" dirty="0">
                <a:solidFill>
                  <a:schemeClr val="tx1"/>
                </a:solidFill>
              </a:rPr>
              <a:t>Only changes something when the problem is found</a:t>
            </a:r>
            <a:endParaRPr lang="en-US" sz="1400" dirty="0"/>
          </a:p>
        </p:txBody>
      </p:sp>
      <p:sp>
        <p:nvSpPr>
          <p:cNvPr id="8" name="Safety 2 card"/>
          <p:cNvSpPr/>
          <p:nvPr/>
        </p:nvSpPr>
        <p:spPr>
          <a:xfrm>
            <a:off x="4411980" y="1417320"/>
            <a:ext cx="3520440" cy="2148840"/>
          </a:xfrm>
          <a:prstGeom prst="roundRect">
            <a:avLst>
              <a:gd name="adj" fmla="val 5106"/>
            </a:avLst>
          </a:prstGeom>
          <a:solidFill>
            <a:schemeClr val="bg2"/>
          </a:solidFill>
          <a:ln/>
        </p:spPr>
      </p:sp>
      <p:sp>
        <p:nvSpPr>
          <p:cNvPr id="9" name="Safety 2 circle"/>
          <p:cNvSpPr/>
          <p:nvPr/>
        </p:nvSpPr>
        <p:spPr>
          <a:xfrm>
            <a:off x="4686300" y="1691640"/>
            <a:ext cx="685800" cy="685800"/>
          </a:xfrm>
          <a:prstGeom prst="ellipse">
            <a:avLst/>
          </a:prstGeom>
          <a:solidFill>
            <a:schemeClr val="accent1"/>
          </a:solidFill>
          <a:ln/>
        </p:spPr>
      </p:sp>
      <p:pic>
        <p:nvPicPr>
          <p:cNvPr id="10" name="Safety 2 icon" descr="preencoded.png">    </p:cNvPr>
          <p:cNvPicPr>
            <a:picLocks noChangeAspect="1"/>
          </p:cNvPicPr>
          <p:nvPr/>
        </p:nvPicPr>
        <p:blipFill>
          <a:blip r:embed="rId2"/>
          <a:stretch>
            <a:fillRect/>
          </a:stretch>
        </p:blipFill>
        <p:spPr>
          <a:xfrm>
            <a:off x="4857750" y="1863090"/>
            <a:ext cx="342900" cy="342900"/>
          </a:xfrm>
          <a:prstGeom prst="rect">
            <a:avLst/>
          </a:prstGeom>
        </p:spPr>
      </p:pic>
      <p:sp>
        <p:nvSpPr>
          <p:cNvPr id="11" name="Safety 2 title"/>
          <p:cNvSpPr txBox="1"/>
          <p:nvPr/>
        </p:nvSpPr>
        <p:spPr>
          <a:xfrm>
            <a:off x="5554980" y="1691640"/>
            <a:ext cx="2148840" cy="685800"/>
          </a:xfrm>
          <a:prstGeom prst="rect">
            <a:avLst/>
          </a:prstGeom>
          <a:noFill/>
          <a:ln/>
        </p:spPr>
        <p:txBody>
          <a:bodyPr wrap="square" lIns="0" tIns="0" rIns="0" bIns="0" rtlCol="0" anchor="ctr"/>
          <a:lstStyle/>
          <a:p>
            <a:pPr indent="0" marL="0">
              <a:buNone/>
            </a:pPr>
            <a:r>
              <a:rPr lang="en-US" sz="1800" b="1" dirty="0">
                <a:solidFill>
                  <a:schemeClr val="tx2"/>
                </a:solidFill>
              </a:rPr>
              <a:t>Dry-run mode</a:t>
            </a:r>
            <a:endParaRPr lang="en-US" sz="1800" dirty="0"/>
          </a:p>
        </p:txBody>
      </p:sp>
      <p:sp>
        <p:nvSpPr>
          <p:cNvPr id="12" name="Safety 2 text"/>
          <p:cNvSpPr txBox="1"/>
          <p:nvPr/>
        </p:nvSpPr>
        <p:spPr>
          <a:xfrm>
            <a:off x="4686300" y="2560320"/>
            <a:ext cx="2971800" cy="822960"/>
          </a:xfrm>
          <a:prstGeom prst="rect">
            <a:avLst/>
          </a:prstGeom>
          <a:noFill/>
          <a:ln/>
        </p:spPr>
        <p:txBody>
          <a:bodyPr wrap="square" lIns="0" tIns="0" rIns="0" bIns="0" rtlCol="0" anchor="t"/>
          <a:lstStyle/>
          <a:p>
            <a:pPr indent="0" marL="0">
              <a:buNone/>
            </a:pPr>
            <a:r>
              <a:rPr lang="en-US" sz="1400" dirty="0">
                <a:solidFill>
                  <a:schemeClr val="tx1"/>
                </a:solidFill>
              </a:rPr>
              <a:t>Test mode reports what it would do without changing anything</a:t>
            </a:r>
            <a:endParaRPr lang="en-US" sz="1400" dirty="0"/>
          </a:p>
        </p:txBody>
      </p:sp>
      <p:sp>
        <p:nvSpPr>
          <p:cNvPr id="13" name="Safety 3 card"/>
          <p:cNvSpPr/>
          <p:nvPr/>
        </p:nvSpPr>
        <p:spPr>
          <a:xfrm>
            <a:off x="8275320" y="1417320"/>
            <a:ext cx="3520440" cy="2148840"/>
          </a:xfrm>
          <a:prstGeom prst="roundRect">
            <a:avLst>
              <a:gd name="adj" fmla="val 5106"/>
            </a:avLst>
          </a:prstGeom>
          <a:solidFill>
            <a:schemeClr val="bg2"/>
          </a:solidFill>
          <a:ln/>
        </p:spPr>
      </p:sp>
      <p:sp>
        <p:nvSpPr>
          <p:cNvPr id="14" name="Safety 3 circle"/>
          <p:cNvSpPr/>
          <p:nvPr/>
        </p:nvSpPr>
        <p:spPr>
          <a:xfrm>
            <a:off x="8549640" y="1691640"/>
            <a:ext cx="685800" cy="685800"/>
          </a:xfrm>
          <a:prstGeom prst="ellipse">
            <a:avLst/>
          </a:prstGeom>
          <a:solidFill>
            <a:schemeClr val="accent1"/>
          </a:solidFill>
          <a:ln/>
        </p:spPr>
      </p:sp>
      <p:pic>
        <p:nvPicPr>
          <p:cNvPr id="15" name="Safety 3 icon" descr="preencoded.png">    </p:cNvPr>
          <p:cNvPicPr>
            <a:picLocks noChangeAspect="1"/>
          </p:cNvPicPr>
          <p:nvPr/>
        </p:nvPicPr>
        <p:blipFill>
          <a:blip r:embed="rId3"/>
          <a:stretch>
            <a:fillRect/>
          </a:stretch>
        </p:blipFill>
        <p:spPr>
          <a:xfrm>
            <a:off x="8721090" y="1863090"/>
            <a:ext cx="342900" cy="342900"/>
          </a:xfrm>
          <a:prstGeom prst="rect">
            <a:avLst/>
          </a:prstGeom>
        </p:spPr>
      </p:pic>
      <p:sp>
        <p:nvSpPr>
          <p:cNvPr id="16" name="Safety 3 title"/>
          <p:cNvSpPr txBox="1"/>
          <p:nvPr/>
        </p:nvSpPr>
        <p:spPr>
          <a:xfrm>
            <a:off x="9418320" y="1691640"/>
            <a:ext cx="2148840" cy="685800"/>
          </a:xfrm>
          <a:prstGeom prst="rect">
            <a:avLst/>
          </a:prstGeom>
          <a:noFill/>
          <a:ln/>
        </p:spPr>
        <p:txBody>
          <a:bodyPr wrap="square" lIns="0" tIns="0" rIns="0" bIns="0" rtlCol="0" anchor="ctr"/>
          <a:lstStyle/>
          <a:p>
            <a:pPr indent="0" marL="0">
              <a:buNone/>
            </a:pPr>
            <a:r>
              <a:rPr lang="en-US" sz="1800" b="1" dirty="0">
                <a:solidFill>
                  <a:schemeClr val="tx2"/>
                </a:solidFill>
              </a:rPr>
              <a:t>Backup, not delete</a:t>
            </a:r>
            <a:endParaRPr lang="en-US" sz="1800" dirty="0"/>
          </a:p>
        </p:txBody>
      </p:sp>
      <p:sp>
        <p:nvSpPr>
          <p:cNvPr id="17" name="Safety 3 text"/>
          <p:cNvSpPr txBox="1"/>
          <p:nvPr/>
        </p:nvSpPr>
        <p:spPr>
          <a:xfrm>
            <a:off x="8549640" y="2560320"/>
            <a:ext cx="2971800" cy="822960"/>
          </a:xfrm>
          <a:prstGeom prst="rect">
            <a:avLst/>
          </a:prstGeom>
          <a:noFill/>
          <a:ln/>
        </p:spPr>
        <p:txBody>
          <a:bodyPr wrap="square" lIns="0" tIns="0" rIns="0" bIns="0" rtlCol="0" anchor="t"/>
          <a:lstStyle/>
          <a:p>
            <a:pPr indent="0" marL="0">
              <a:buNone/>
            </a:pPr>
            <a:r>
              <a:rPr lang="en-US" sz="1400" dirty="0">
                <a:solidFill>
                  <a:schemeClr val="tx1"/>
                </a:solidFill>
              </a:rPr>
              <a:t>Teams cache is renamed so it can be rolled back</a:t>
            </a:r>
            <a:endParaRPr lang="en-US" sz="1400" dirty="0"/>
          </a:p>
        </p:txBody>
      </p:sp>
      <p:sp>
        <p:nvSpPr>
          <p:cNvPr id="18" name="Safety 4 card"/>
          <p:cNvSpPr/>
          <p:nvPr/>
        </p:nvSpPr>
        <p:spPr>
          <a:xfrm>
            <a:off x="548640" y="3840480"/>
            <a:ext cx="3520440" cy="2148840"/>
          </a:xfrm>
          <a:prstGeom prst="roundRect">
            <a:avLst>
              <a:gd name="adj" fmla="val 5106"/>
            </a:avLst>
          </a:prstGeom>
          <a:solidFill>
            <a:schemeClr val="bg2"/>
          </a:solidFill>
          <a:ln/>
        </p:spPr>
      </p:sp>
      <p:sp>
        <p:nvSpPr>
          <p:cNvPr id="19" name="Safety 4 circle"/>
          <p:cNvSpPr/>
          <p:nvPr/>
        </p:nvSpPr>
        <p:spPr>
          <a:xfrm>
            <a:off x="822960" y="4114800"/>
            <a:ext cx="685800" cy="685800"/>
          </a:xfrm>
          <a:prstGeom prst="ellipse">
            <a:avLst/>
          </a:prstGeom>
          <a:solidFill>
            <a:schemeClr val="accent1"/>
          </a:solidFill>
          <a:ln/>
        </p:spPr>
      </p:sp>
      <p:pic>
        <p:nvPicPr>
          <p:cNvPr id="20" name="Safety 4 icon" descr="preencoded.png">    </p:cNvPr>
          <p:cNvPicPr>
            <a:picLocks noChangeAspect="1"/>
          </p:cNvPicPr>
          <p:nvPr/>
        </p:nvPicPr>
        <p:blipFill>
          <a:blip r:embed="rId4"/>
          <a:stretch>
            <a:fillRect/>
          </a:stretch>
        </p:blipFill>
        <p:spPr>
          <a:xfrm>
            <a:off x="994410" y="4286250"/>
            <a:ext cx="342900" cy="342900"/>
          </a:xfrm>
          <a:prstGeom prst="rect">
            <a:avLst/>
          </a:prstGeom>
        </p:spPr>
      </p:pic>
      <p:sp>
        <p:nvSpPr>
          <p:cNvPr id="21" name="Safety 4 title"/>
          <p:cNvSpPr txBox="1"/>
          <p:nvPr/>
        </p:nvSpPr>
        <p:spPr>
          <a:xfrm>
            <a:off x="1691640" y="4114800"/>
            <a:ext cx="2148840" cy="685800"/>
          </a:xfrm>
          <a:prstGeom prst="rect">
            <a:avLst/>
          </a:prstGeom>
          <a:noFill/>
          <a:ln/>
        </p:spPr>
        <p:txBody>
          <a:bodyPr wrap="square" lIns="0" tIns="0" rIns="0" bIns="0" rtlCol="0" anchor="ctr"/>
          <a:lstStyle/>
          <a:p>
            <a:pPr indent="0" marL="0">
              <a:buNone/>
            </a:pPr>
            <a:r>
              <a:rPr lang="en-US" sz="1800" b="1" dirty="0">
                <a:solidFill>
                  <a:schemeClr val="tx2"/>
                </a:solidFill>
              </a:rPr>
              <a:t>No user data</a:t>
            </a:r>
            <a:endParaRPr lang="en-US" sz="1800" dirty="0"/>
          </a:p>
        </p:txBody>
      </p:sp>
      <p:sp>
        <p:nvSpPr>
          <p:cNvPr id="22" name="Safety 4 text"/>
          <p:cNvSpPr txBox="1"/>
          <p:nvPr/>
        </p:nvSpPr>
        <p:spPr>
          <a:xfrm>
            <a:off x="822960" y="4983480"/>
            <a:ext cx="2971800" cy="822960"/>
          </a:xfrm>
          <a:prstGeom prst="rect">
            <a:avLst/>
          </a:prstGeom>
          <a:noFill/>
          <a:ln/>
        </p:spPr>
        <p:txBody>
          <a:bodyPr wrap="square" lIns="0" tIns="0" rIns="0" bIns="0" rtlCol="0" anchor="t"/>
          <a:lstStyle/>
          <a:p>
            <a:pPr indent="0" marL="0">
              <a:buNone/>
            </a:pPr>
            <a:r>
              <a:rPr lang="en-US" sz="1400" dirty="0">
                <a:solidFill>
                  <a:schemeClr val="tx1"/>
                </a:solidFill>
              </a:rPr>
              <a:t>Personal files, passwords and history are never touched</a:t>
            </a:r>
            <a:endParaRPr lang="en-US" sz="1400" dirty="0"/>
          </a:p>
        </p:txBody>
      </p:sp>
      <p:sp>
        <p:nvSpPr>
          <p:cNvPr id="23" name="Safety 5 card"/>
          <p:cNvSpPr/>
          <p:nvPr/>
        </p:nvSpPr>
        <p:spPr>
          <a:xfrm>
            <a:off x="4411980" y="3840480"/>
            <a:ext cx="3520440" cy="2148840"/>
          </a:xfrm>
          <a:prstGeom prst="roundRect">
            <a:avLst>
              <a:gd name="adj" fmla="val 5106"/>
            </a:avLst>
          </a:prstGeom>
          <a:solidFill>
            <a:schemeClr val="bg2"/>
          </a:solidFill>
          <a:ln/>
        </p:spPr>
      </p:sp>
      <p:sp>
        <p:nvSpPr>
          <p:cNvPr id="24" name="Safety 5 circle"/>
          <p:cNvSpPr/>
          <p:nvPr/>
        </p:nvSpPr>
        <p:spPr>
          <a:xfrm>
            <a:off x="4686300" y="4114800"/>
            <a:ext cx="685800" cy="685800"/>
          </a:xfrm>
          <a:prstGeom prst="ellipse">
            <a:avLst/>
          </a:prstGeom>
          <a:solidFill>
            <a:schemeClr val="accent1"/>
          </a:solidFill>
          <a:ln/>
        </p:spPr>
      </p:sp>
      <p:pic>
        <p:nvPicPr>
          <p:cNvPr id="25" name="Safety 5 icon" descr="preencoded.png">    </p:cNvPr>
          <p:cNvPicPr>
            <a:picLocks noChangeAspect="1"/>
          </p:cNvPicPr>
          <p:nvPr/>
        </p:nvPicPr>
        <p:blipFill>
          <a:blip r:embed="rId5"/>
          <a:stretch>
            <a:fillRect/>
          </a:stretch>
        </p:blipFill>
        <p:spPr>
          <a:xfrm>
            <a:off x="4857750" y="4286250"/>
            <a:ext cx="342900" cy="342900"/>
          </a:xfrm>
          <a:prstGeom prst="rect">
            <a:avLst/>
          </a:prstGeom>
        </p:spPr>
      </p:pic>
      <p:sp>
        <p:nvSpPr>
          <p:cNvPr id="26" name="Safety 5 title"/>
          <p:cNvSpPr txBox="1"/>
          <p:nvPr/>
        </p:nvSpPr>
        <p:spPr>
          <a:xfrm>
            <a:off x="5554980" y="4114800"/>
            <a:ext cx="2148840" cy="685800"/>
          </a:xfrm>
          <a:prstGeom prst="rect">
            <a:avLst/>
          </a:prstGeom>
          <a:noFill/>
          <a:ln/>
        </p:spPr>
        <p:txBody>
          <a:bodyPr wrap="square" lIns="0" tIns="0" rIns="0" bIns="0" rtlCol="0" anchor="ctr"/>
          <a:lstStyle/>
          <a:p>
            <a:pPr indent="0" marL="0">
              <a:buNone/>
            </a:pPr>
            <a:r>
              <a:rPr lang="en-US" sz="1800" b="1" dirty="0">
                <a:solidFill>
                  <a:schemeClr val="tx2"/>
                </a:solidFill>
              </a:rPr>
              <a:t>Signed scripts</a:t>
            </a:r>
            <a:endParaRPr lang="en-US" sz="1800" dirty="0"/>
          </a:p>
        </p:txBody>
      </p:sp>
      <p:sp>
        <p:nvSpPr>
          <p:cNvPr id="27" name="Safety 5 text"/>
          <p:cNvSpPr txBox="1"/>
          <p:nvPr/>
        </p:nvSpPr>
        <p:spPr>
          <a:xfrm>
            <a:off x="4686300" y="4983480"/>
            <a:ext cx="2971800" cy="822960"/>
          </a:xfrm>
          <a:prstGeom prst="rect">
            <a:avLst/>
          </a:prstGeom>
          <a:noFill/>
          <a:ln/>
        </p:spPr>
        <p:txBody>
          <a:bodyPr wrap="square" lIns="0" tIns="0" rIns="0" bIns="0" rtlCol="0" anchor="t"/>
          <a:lstStyle/>
          <a:p>
            <a:pPr indent="0" marL="0">
              <a:buNone/>
            </a:pPr>
            <a:r>
              <a:rPr lang="en-US" sz="1400" dirty="0">
                <a:solidFill>
                  <a:schemeClr val="tx1"/>
                </a:solidFill>
              </a:rPr>
              <a:t>Signed and run as System, same as our approved scripts</a:t>
            </a:r>
            <a:endParaRPr lang="en-US" sz="1400" dirty="0"/>
          </a:p>
        </p:txBody>
      </p:sp>
      <p:sp>
        <p:nvSpPr>
          <p:cNvPr id="28" name="Safety 6 card"/>
          <p:cNvSpPr/>
          <p:nvPr/>
        </p:nvSpPr>
        <p:spPr>
          <a:xfrm>
            <a:off x="8275320" y="3840480"/>
            <a:ext cx="3520440" cy="2148840"/>
          </a:xfrm>
          <a:prstGeom prst="roundRect">
            <a:avLst>
              <a:gd name="adj" fmla="val 5106"/>
            </a:avLst>
          </a:prstGeom>
          <a:solidFill>
            <a:schemeClr val="bg2"/>
          </a:solidFill>
          <a:ln/>
        </p:spPr>
      </p:sp>
      <p:sp>
        <p:nvSpPr>
          <p:cNvPr id="29" name="Safety 6 circle"/>
          <p:cNvSpPr/>
          <p:nvPr/>
        </p:nvSpPr>
        <p:spPr>
          <a:xfrm>
            <a:off x="8549640" y="4114800"/>
            <a:ext cx="685800" cy="685800"/>
          </a:xfrm>
          <a:prstGeom prst="ellipse">
            <a:avLst/>
          </a:prstGeom>
          <a:solidFill>
            <a:schemeClr val="accent1"/>
          </a:solidFill>
          <a:ln/>
        </p:spPr>
      </p:sp>
      <p:pic>
        <p:nvPicPr>
          <p:cNvPr id="30" name="Safety 6 icon" descr="preencoded.png">    </p:cNvPr>
          <p:cNvPicPr>
            <a:picLocks noChangeAspect="1"/>
          </p:cNvPicPr>
          <p:nvPr/>
        </p:nvPicPr>
        <p:blipFill>
          <a:blip r:embed="rId6"/>
          <a:stretch>
            <a:fillRect/>
          </a:stretch>
        </p:blipFill>
        <p:spPr>
          <a:xfrm>
            <a:off x="8721090" y="4286250"/>
            <a:ext cx="342900" cy="342900"/>
          </a:xfrm>
          <a:prstGeom prst="rect">
            <a:avLst/>
          </a:prstGeom>
        </p:spPr>
      </p:pic>
      <p:sp>
        <p:nvSpPr>
          <p:cNvPr id="31" name="Safety 6 title"/>
          <p:cNvSpPr txBox="1"/>
          <p:nvPr/>
        </p:nvSpPr>
        <p:spPr>
          <a:xfrm>
            <a:off x="9418320" y="4114800"/>
            <a:ext cx="2148840" cy="685800"/>
          </a:xfrm>
          <a:prstGeom prst="rect">
            <a:avLst/>
          </a:prstGeom>
          <a:noFill/>
          <a:ln/>
        </p:spPr>
        <p:txBody>
          <a:bodyPr wrap="square" lIns="0" tIns="0" rIns="0" bIns="0" rtlCol="0" anchor="ctr"/>
          <a:lstStyle/>
          <a:p>
            <a:pPr indent="0" marL="0">
              <a:buNone/>
            </a:pPr>
            <a:r>
              <a:rPr lang="en-US" sz="1800" b="1" dirty="0">
                <a:solidFill>
                  <a:schemeClr val="tx2"/>
                </a:solidFill>
              </a:rPr>
              <a:t>Clear report</a:t>
            </a:r>
            <a:endParaRPr lang="en-US" sz="1800" dirty="0"/>
          </a:p>
        </p:txBody>
      </p:sp>
      <p:sp>
        <p:nvSpPr>
          <p:cNvPr id="32" name="Safety 6 text"/>
          <p:cNvSpPr txBox="1"/>
          <p:nvPr/>
        </p:nvSpPr>
        <p:spPr>
          <a:xfrm>
            <a:off x="8549640" y="4983480"/>
            <a:ext cx="2971800" cy="822960"/>
          </a:xfrm>
          <a:prstGeom prst="rect">
            <a:avLst/>
          </a:prstGeom>
          <a:noFill/>
          <a:ln/>
        </p:spPr>
        <p:txBody>
          <a:bodyPr wrap="square" lIns="0" tIns="0" rIns="0" bIns="0" rtlCol="0" anchor="t"/>
          <a:lstStyle/>
          <a:p>
            <a:pPr indent="0" marL="0">
              <a:buNone/>
            </a:pPr>
            <a:r>
              <a:rPr lang="en-US" sz="1400" dirty="0">
                <a:solidFill>
                  <a:schemeClr val="tx1"/>
                </a:solidFill>
              </a:rPr>
              <a:t>Before and after values, every action, and a final status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What we see in ZDX after it runs</a:t>
            </a:r>
            <a:endParaRPr lang="en-US" sz="3400" dirty="0"/>
          </a:p>
        </p:txBody>
      </p:sp>
      <p:sp>
        <p:nvSpPr>
          <p:cNvPr id="3" name="Output box"/>
          <p:cNvSpPr/>
          <p:nvPr/>
        </p:nvSpPr>
        <p:spPr>
          <a:xfrm>
            <a:off x="548640" y="1417320"/>
            <a:ext cx="6583680" cy="4206240"/>
          </a:xfrm>
          <a:prstGeom prst="roundRect">
            <a:avLst>
              <a:gd name="adj" fmla="val 2609"/>
            </a:avLst>
          </a:prstGeom>
          <a:solidFill>
            <a:schemeClr val="tx2"/>
          </a:solidFill>
          <a:ln/>
        </p:spPr>
      </p:sp>
      <p:sp>
        <p:nvSpPr>
          <p:cNvPr id="4" name="Output sample"/>
          <p:cNvSpPr txBox="1"/>
          <p:nvPr/>
        </p:nvSpPr>
        <p:spPr>
          <a:xfrm>
            <a:off x="868680" y="1691640"/>
            <a:ext cx="5943600" cy="365760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Disk Space Cleanup (C:)</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Free Before : 9.84 GB (4.2%)</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Free After  : 31.57 GB (13.3%)</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Space Freed : 21.73 GB</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User temp files    : freed 3.06 GB</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Browser cache      : freed 1.87 GB</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Recycle Bin        : freed 2.45 GB</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Windows Disk Clean : freed 7.88 GB</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Disk Status : LOW</a:t>
            </a:r>
            <a:endParaRPr lang="en-US" sz="1400" dirty="0"/>
          </a:p>
        </p:txBody>
      </p:sp>
      <p:sp>
        <p:nvSpPr>
          <p:cNvPr id="5" name="Output caption"/>
          <p:cNvSpPr txBox="1"/>
          <p:nvPr/>
        </p:nvSpPr>
        <p:spPr>
          <a:xfrm>
            <a:off x="868680" y="5120640"/>
            <a:ext cx="5943600" cy="365760"/>
          </a:xfrm>
          <a:prstGeom prst="rect">
            <a:avLst/>
          </a:prstGeom>
          <a:noFill/>
          <a:ln/>
        </p:spPr>
        <p:txBody>
          <a:bodyPr wrap="square" lIns="0" tIns="0" rIns="0" bIns="0" rtlCol="0" anchor="ctr"/>
          <a:lstStyle/>
          <a:p>
            <a:pPr indent="0" marL="0">
              <a:buNone/>
            </a:pPr>
            <a:r>
              <a:rPr lang="en-US" sz="1100" i="1" dirty="0">
                <a:solidFill>
                  <a:schemeClr val="accent4"/>
                </a:solidFill>
              </a:rPr>
              <a:t>Sample output, example values</a:t>
            </a:r>
            <a:endParaRPr lang="en-US" sz="1100" dirty="0"/>
          </a:p>
        </p:txBody>
      </p:sp>
      <p:sp>
        <p:nvSpPr>
          <p:cNvPr id="6" name="Output 1 circle"/>
          <p:cNvSpPr/>
          <p:nvPr/>
        </p:nvSpPr>
        <p:spPr>
          <a:xfrm>
            <a:off x="7498080" y="1508760"/>
            <a:ext cx="685800" cy="685800"/>
          </a:xfrm>
          <a:prstGeom prst="ellipse">
            <a:avLst/>
          </a:prstGeom>
          <a:solidFill>
            <a:schemeClr val="accent1"/>
          </a:solidFill>
          <a:ln/>
        </p:spPr>
      </p:sp>
      <p:pic>
        <p:nvPicPr>
          <p:cNvPr id="7" name="Output 1 icon" descr="preencoded.png">    </p:cNvPr>
          <p:cNvPicPr>
            <a:picLocks noChangeAspect="1"/>
          </p:cNvPicPr>
          <p:nvPr/>
        </p:nvPicPr>
        <p:blipFill>
          <a:blip r:embed="rId1"/>
          <a:stretch>
            <a:fillRect/>
          </a:stretch>
        </p:blipFill>
        <p:spPr>
          <a:xfrm>
            <a:off x="7669530" y="1680210"/>
            <a:ext cx="342900" cy="342900"/>
          </a:xfrm>
          <a:prstGeom prst="rect">
            <a:avLst/>
          </a:prstGeom>
        </p:spPr>
      </p:pic>
      <p:sp>
        <p:nvSpPr>
          <p:cNvPr id="8" name="Output 1 title"/>
          <p:cNvSpPr txBox="1"/>
          <p:nvPr/>
        </p:nvSpPr>
        <p:spPr>
          <a:xfrm>
            <a:off x="8412480" y="146304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Before and after</a:t>
            </a:r>
            <a:endParaRPr lang="en-US" sz="1800" dirty="0"/>
          </a:p>
        </p:txBody>
      </p:sp>
      <p:sp>
        <p:nvSpPr>
          <p:cNvPr id="9" name="Output 1 text"/>
          <p:cNvSpPr txBox="1"/>
          <p:nvPr/>
        </p:nvSpPr>
        <p:spPr>
          <a:xfrm>
            <a:off x="8412480" y="1920240"/>
            <a:ext cx="3200400" cy="822960"/>
          </a:xfrm>
          <a:prstGeom prst="rect">
            <a:avLst/>
          </a:prstGeom>
          <a:noFill/>
          <a:ln/>
        </p:spPr>
        <p:txBody>
          <a:bodyPr wrap="square" lIns="0" tIns="0" rIns="0" bIns="0" rtlCol="0" anchor="t"/>
          <a:lstStyle/>
          <a:p>
            <a:pPr indent="0" marL="0">
              <a:buNone/>
            </a:pPr>
            <a:r>
              <a:rPr lang="en-US" sz="1400" dirty="0">
                <a:solidFill>
                  <a:schemeClr val="tx1"/>
                </a:solidFill>
              </a:rPr>
              <a:t>Free space or cache size, so the fix is measurable</a:t>
            </a:r>
            <a:endParaRPr lang="en-US" sz="1400" dirty="0"/>
          </a:p>
        </p:txBody>
      </p:sp>
      <p:sp>
        <p:nvSpPr>
          <p:cNvPr id="10" name="Output 2 circle"/>
          <p:cNvSpPr/>
          <p:nvPr/>
        </p:nvSpPr>
        <p:spPr>
          <a:xfrm>
            <a:off x="7498080" y="3108960"/>
            <a:ext cx="685800" cy="685800"/>
          </a:xfrm>
          <a:prstGeom prst="ellipse">
            <a:avLst/>
          </a:prstGeom>
          <a:solidFill>
            <a:schemeClr val="accent1"/>
          </a:solidFill>
          <a:ln/>
        </p:spPr>
      </p:sp>
      <p:pic>
        <p:nvPicPr>
          <p:cNvPr id="11" name="Output 2 icon" descr="preencoded.png">    </p:cNvPr>
          <p:cNvPicPr>
            <a:picLocks noChangeAspect="1"/>
          </p:cNvPicPr>
          <p:nvPr/>
        </p:nvPicPr>
        <p:blipFill>
          <a:blip r:embed="rId2"/>
          <a:stretch>
            <a:fillRect/>
          </a:stretch>
        </p:blipFill>
        <p:spPr>
          <a:xfrm>
            <a:off x="7669530" y="3280410"/>
            <a:ext cx="342900" cy="342900"/>
          </a:xfrm>
          <a:prstGeom prst="rect">
            <a:avLst/>
          </a:prstGeom>
        </p:spPr>
      </p:pic>
      <p:sp>
        <p:nvSpPr>
          <p:cNvPr id="12" name="Output 2 title"/>
          <p:cNvSpPr txBox="1"/>
          <p:nvPr/>
        </p:nvSpPr>
        <p:spPr>
          <a:xfrm>
            <a:off x="8412480" y="306324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Every action listed</a:t>
            </a:r>
            <a:endParaRPr lang="en-US" sz="1800" dirty="0"/>
          </a:p>
        </p:txBody>
      </p:sp>
      <p:sp>
        <p:nvSpPr>
          <p:cNvPr id="13" name="Output 2 text"/>
          <p:cNvSpPr txBox="1"/>
          <p:nvPr/>
        </p:nvSpPr>
        <p:spPr>
          <a:xfrm>
            <a:off x="8412480" y="3520440"/>
            <a:ext cx="3200400" cy="822960"/>
          </a:xfrm>
          <a:prstGeom prst="rect">
            <a:avLst/>
          </a:prstGeom>
          <a:noFill/>
          <a:ln/>
        </p:spPr>
        <p:txBody>
          <a:bodyPr wrap="square" lIns="0" tIns="0" rIns="0" bIns="0" rtlCol="0" anchor="t"/>
          <a:lstStyle/>
          <a:p>
            <a:pPr indent="0" marL="0">
              <a:buNone/>
            </a:pPr>
            <a:r>
              <a:rPr lang="en-US" sz="1400" dirty="0">
                <a:solidFill>
                  <a:schemeClr val="tx1"/>
                </a:solidFill>
              </a:rPr>
              <a:t>Exactly what was closed, renamed or cleaned</a:t>
            </a:r>
            <a:endParaRPr lang="en-US" sz="1400" dirty="0"/>
          </a:p>
        </p:txBody>
      </p:sp>
      <p:sp>
        <p:nvSpPr>
          <p:cNvPr id="14" name="Output 3 circle"/>
          <p:cNvSpPr/>
          <p:nvPr/>
        </p:nvSpPr>
        <p:spPr>
          <a:xfrm>
            <a:off x="7498080" y="4709160"/>
            <a:ext cx="685800" cy="685800"/>
          </a:xfrm>
          <a:prstGeom prst="ellipse">
            <a:avLst/>
          </a:prstGeom>
          <a:solidFill>
            <a:schemeClr val="accent1"/>
          </a:solidFill>
          <a:ln/>
        </p:spPr>
      </p:sp>
      <p:pic>
        <p:nvPicPr>
          <p:cNvPr id="15" name="Output 3 icon" descr="preencoded.png">    </p:cNvPr>
          <p:cNvPicPr>
            <a:picLocks noChangeAspect="1"/>
          </p:cNvPicPr>
          <p:nvPr/>
        </p:nvPicPr>
        <p:blipFill>
          <a:blip r:embed="rId3"/>
          <a:stretch>
            <a:fillRect/>
          </a:stretch>
        </p:blipFill>
        <p:spPr>
          <a:xfrm>
            <a:off x="7669530" y="4880610"/>
            <a:ext cx="342900" cy="342900"/>
          </a:xfrm>
          <a:prstGeom prst="rect">
            <a:avLst/>
          </a:prstGeom>
        </p:spPr>
      </p:pic>
      <p:sp>
        <p:nvSpPr>
          <p:cNvPr id="16" name="Output 3 title"/>
          <p:cNvSpPr txBox="1"/>
          <p:nvPr/>
        </p:nvSpPr>
        <p:spPr>
          <a:xfrm>
            <a:off x="8412480" y="466344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Final status</a:t>
            </a:r>
            <a:endParaRPr lang="en-US" sz="1800" dirty="0"/>
          </a:p>
        </p:txBody>
      </p:sp>
      <p:sp>
        <p:nvSpPr>
          <p:cNvPr id="17" name="Output 3 text"/>
          <p:cNvSpPr txBox="1"/>
          <p:nvPr/>
        </p:nvSpPr>
        <p:spPr>
          <a:xfrm>
            <a:off x="8412480" y="5120640"/>
            <a:ext cx="3200400" cy="822960"/>
          </a:xfrm>
          <a:prstGeom prst="rect">
            <a:avLst/>
          </a:prstGeom>
          <a:noFill/>
          <a:ln/>
        </p:spPr>
        <p:txBody>
          <a:bodyPr wrap="square" lIns="0" tIns="0" rIns="0" bIns="0" rtlCol="0" anchor="t"/>
          <a:lstStyle/>
          <a:p>
            <a:pPr indent="0" marL="0">
              <a:buNone/>
            </a:pPr>
            <a:r>
              <a:rPr lang="en-US" sz="1400" dirty="0">
                <a:solidFill>
                  <a:schemeClr val="tx1"/>
                </a:solidFill>
              </a:rPr>
              <a:t>Complete, skipped, or no action needed, with the reason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Next steps</a:t>
            </a:r>
            <a:endParaRPr lang="en-US" sz="3400" dirty="0"/>
          </a:p>
        </p:txBody>
      </p:sp>
      <p:sp>
        <p:nvSpPr>
          <p:cNvPr id="3" name="Next 1 circle"/>
          <p:cNvSpPr/>
          <p:nvPr/>
        </p:nvSpPr>
        <p:spPr>
          <a:xfrm>
            <a:off x="548640" y="1645920"/>
            <a:ext cx="822960" cy="822960"/>
          </a:xfrm>
          <a:prstGeom prst="ellipse">
            <a:avLst/>
          </a:prstGeom>
          <a:solidFill>
            <a:schemeClr val="accent1"/>
          </a:solidFill>
          <a:ln/>
        </p:spPr>
      </p:sp>
      <p:sp>
        <p:nvSpPr>
          <p:cNvPr id="4" name="Next 1 number"/>
          <p:cNvSpPr txBox="1"/>
          <p:nvPr/>
        </p:nvSpPr>
        <p:spPr>
          <a:xfrm>
            <a:off x="548640" y="16459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5" name="Next 1 connector"/>
          <p:cNvSpPr/>
          <p:nvPr/>
        </p:nvSpPr>
        <p:spPr>
          <a:xfrm>
            <a:off x="1508760" y="2057400"/>
            <a:ext cx="1752905" cy="0"/>
          </a:xfrm>
          <a:prstGeom prst="line">
            <a:avLst/>
          </a:prstGeom>
          <a:noFill/>
          <a:ln w="19050">
            <a:solidFill>
              <a:schemeClr val="accent4"/>
            </a:solidFill>
            <a:prstDash val="dash"/>
          </a:ln>
        </p:spPr>
      </p:sp>
      <p:sp>
        <p:nvSpPr>
          <p:cNvPr id="6" name="Next 1 title"/>
          <p:cNvSpPr txBox="1"/>
          <p:nvPr/>
        </p:nvSpPr>
        <p:spPr>
          <a:xfrm>
            <a:off x="548640" y="2743200"/>
            <a:ext cx="2423160" cy="457200"/>
          </a:xfrm>
          <a:prstGeom prst="rect">
            <a:avLst/>
          </a:prstGeom>
          <a:noFill/>
          <a:ln/>
        </p:spPr>
        <p:txBody>
          <a:bodyPr wrap="square" lIns="0" tIns="0" rIns="0" bIns="0" rtlCol="0" anchor="ctr"/>
          <a:lstStyle/>
          <a:p>
            <a:pPr indent="0" marL="0">
              <a:buNone/>
            </a:pPr>
            <a:r>
              <a:rPr lang="en-US" sz="2000" b="1" dirty="0">
                <a:solidFill>
                  <a:schemeClr val="bg1"/>
                </a:solidFill>
              </a:rPr>
              <a:t>Pilot</a:t>
            </a:r>
            <a:endParaRPr lang="en-US" sz="2000" dirty="0"/>
          </a:p>
        </p:txBody>
      </p:sp>
      <p:sp>
        <p:nvSpPr>
          <p:cNvPr id="7" name="Next 1 text"/>
          <p:cNvSpPr txBox="1"/>
          <p:nvPr/>
        </p:nvSpPr>
        <p:spPr>
          <a:xfrm>
            <a:off x="548640" y="3246120"/>
            <a:ext cx="2331720" cy="1188720"/>
          </a:xfrm>
          <a:prstGeom prst="rect">
            <a:avLst/>
          </a:prstGeom>
          <a:noFill/>
          <a:ln/>
        </p:spPr>
        <p:txBody>
          <a:bodyPr wrap="square" lIns="0" tIns="0" rIns="0" bIns="0" rtlCol="0" anchor="t"/>
          <a:lstStyle/>
          <a:p>
            <a:pPr indent="0" marL="0">
              <a:buNone/>
            </a:pPr>
            <a:r>
              <a:rPr lang="en-US" sz="1500" dirty="0">
                <a:solidFill>
                  <a:schemeClr val="accent4"/>
                </a:solidFill>
              </a:rPr>
              <a:t>Run in dry-run mode on a small test group</a:t>
            </a:r>
            <a:endParaRPr lang="en-US" sz="1500" dirty="0"/>
          </a:p>
        </p:txBody>
      </p:sp>
      <p:sp>
        <p:nvSpPr>
          <p:cNvPr id="8" name="Next 2 circle"/>
          <p:cNvSpPr/>
          <p:nvPr/>
        </p:nvSpPr>
        <p:spPr>
          <a:xfrm>
            <a:off x="3398825" y="1645920"/>
            <a:ext cx="822960" cy="822960"/>
          </a:xfrm>
          <a:prstGeom prst="ellipse">
            <a:avLst/>
          </a:prstGeom>
          <a:solidFill>
            <a:schemeClr val="accent1"/>
          </a:solidFill>
          <a:ln/>
        </p:spPr>
      </p:sp>
      <p:sp>
        <p:nvSpPr>
          <p:cNvPr id="9" name="Next 2 number"/>
          <p:cNvSpPr txBox="1"/>
          <p:nvPr/>
        </p:nvSpPr>
        <p:spPr>
          <a:xfrm>
            <a:off x="3398825" y="16459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0" name="Next 2 connector"/>
          <p:cNvSpPr/>
          <p:nvPr/>
        </p:nvSpPr>
        <p:spPr>
          <a:xfrm>
            <a:off x="4358945" y="2057400"/>
            <a:ext cx="1752905" cy="0"/>
          </a:xfrm>
          <a:prstGeom prst="line">
            <a:avLst/>
          </a:prstGeom>
          <a:noFill/>
          <a:ln w="19050">
            <a:solidFill>
              <a:schemeClr val="accent4"/>
            </a:solidFill>
            <a:prstDash val="dash"/>
          </a:ln>
        </p:spPr>
      </p:sp>
      <p:sp>
        <p:nvSpPr>
          <p:cNvPr id="11" name="Next 2 title"/>
          <p:cNvSpPr txBox="1"/>
          <p:nvPr/>
        </p:nvSpPr>
        <p:spPr>
          <a:xfrm>
            <a:off x="3398825" y="2743200"/>
            <a:ext cx="2423160" cy="457200"/>
          </a:xfrm>
          <a:prstGeom prst="rect">
            <a:avLst/>
          </a:prstGeom>
          <a:noFill/>
          <a:ln/>
        </p:spPr>
        <p:txBody>
          <a:bodyPr wrap="square" lIns="0" tIns="0" rIns="0" bIns="0" rtlCol="0" anchor="ctr"/>
          <a:lstStyle/>
          <a:p>
            <a:pPr indent="0" marL="0">
              <a:buNone/>
            </a:pPr>
            <a:r>
              <a:rPr lang="en-US" sz="2000" b="1" dirty="0">
                <a:solidFill>
                  <a:schemeClr val="bg1"/>
                </a:solidFill>
              </a:rPr>
              <a:t>Review</a:t>
            </a:r>
            <a:endParaRPr lang="en-US" sz="2000" dirty="0"/>
          </a:p>
        </p:txBody>
      </p:sp>
      <p:sp>
        <p:nvSpPr>
          <p:cNvPr id="12" name="Next 2 text"/>
          <p:cNvSpPr txBox="1"/>
          <p:nvPr/>
        </p:nvSpPr>
        <p:spPr>
          <a:xfrm>
            <a:off x="3398825" y="3246120"/>
            <a:ext cx="2331720" cy="1188720"/>
          </a:xfrm>
          <a:prstGeom prst="rect">
            <a:avLst/>
          </a:prstGeom>
          <a:noFill/>
          <a:ln/>
        </p:spPr>
        <p:txBody>
          <a:bodyPr wrap="square" lIns="0" tIns="0" rIns="0" bIns="0" rtlCol="0" anchor="t"/>
          <a:lstStyle/>
          <a:p>
            <a:pPr indent="0" marL="0">
              <a:buNone/>
            </a:pPr>
            <a:r>
              <a:rPr lang="en-US" sz="1500" dirty="0">
                <a:solidFill>
                  <a:schemeClr val="accent4"/>
                </a:solidFill>
              </a:rPr>
              <a:t>Check the results and adjust settings if needed</a:t>
            </a:r>
            <a:endParaRPr lang="en-US" sz="1500" dirty="0"/>
          </a:p>
        </p:txBody>
      </p:sp>
      <p:sp>
        <p:nvSpPr>
          <p:cNvPr id="13" name="Next 3 circle"/>
          <p:cNvSpPr/>
          <p:nvPr/>
        </p:nvSpPr>
        <p:spPr>
          <a:xfrm>
            <a:off x="6249010" y="1645920"/>
            <a:ext cx="822960" cy="822960"/>
          </a:xfrm>
          <a:prstGeom prst="ellipse">
            <a:avLst/>
          </a:prstGeom>
          <a:solidFill>
            <a:schemeClr val="accent1"/>
          </a:solidFill>
          <a:ln/>
        </p:spPr>
      </p:sp>
      <p:sp>
        <p:nvSpPr>
          <p:cNvPr id="14" name="Next 3 number"/>
          <p:cNvSpPr txBox="1"/>
          <p:nvPr/>
        </p:nvSpPr>
        <p:spPr>
          <a:xfrm>
            <a:off x="6249010" y="16459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5" name="Next 3 connector"/>
          <p:cNvSpPr/>
          <p:nvPr/>
        </p:nvSpPr>
        <p:spPr>
          <a:xfrm>
            <a:off x="7209130" y="2057400"/>
            <a:ext cx="1752905" cy="0"/>
          </a:xfrm>
          <a:prstGeom prst="line">
            <a:avLst/>
          </a:prstGeom>
          <a:noFill/>
          <a:ln w="19050">
            <a:solidFill>
              <a:schemeClr val="accent4"/>
            </a:solidFill>
            <a:prstDash val="dash"/>
          </a:ln>
        </p:spPr>
      </p:sp>
      <p:sp>
        <p:nvSpPr>
          <p:cNvPr id="16" name="Next 3 title"/>
          <p:cNvSpPr txBox="1"/>
          <p:nvPr/>
        </p:nvSpPr>
        <p:spPr>
          <a:xfrm>
            <a:off x="6249010" y="2743200"/>
            <a:ext cx="2423160" cy="457200"/>
          </a:xfrm>
          <a:prstGeom prst="rect">
            <a:avLst/>
          </a:prstGeom>
          <a:noFill/>
          <a:ln/>
        </p:spPr>
        <p:txBody>
          <a:bodyPr wrap="square" lIns="0" tIns="0" rIns="0" bIns="0" rtlCol="0" anchor="ctr"/>
          <a:lstStyle/>
          <a:p>
            <a:pPr indent="0" marL="0">
              <a:buNone/>
            </a:pPr>
            <a:r>
              <a:rPr lang="en-US" sz="2000" b="1" dirty="0">
                <a:solidFill>
                  <a:schemeClr val="bg1"/>
                </a:solidFill>
              </a:rPr>
              <a:t>Sign and upload</a:t>
            </a:r>
            <a:endParaRPr lang="en-US" sz="2000" dirty="0"/>
          </a:p>
        </p:txBody>
      </p:sp>
      <p:sp>
        <p:nvSpPr>
          <p:cNvPr id="17" name="Next 3 text"/>
          <p:cNvSpPr txBox="1"/>
          <p:nvPr/>
        </p:nvSpPr>
        <p:spPr>
          <a:xfrm>
            <a:off x="6249010" y="3246120"/>
            <a:ext cx="2331720" cy="1188720"/>
          </a:xfrm>
          <a:prstGeom prst="rect">
            <a:avLst/>
          </a:prstGeom>
          <a:noFill/>
          <a:ln/>
        </p:spPr>
        <p:txBody>
          <a:bodyPr wrap="square" lIns="0" tIns="0" rIns="0" bIns="0" rtlCol="0" anchor="t"/>
          <a:lstStyle/>
          <a:p>
            <a:pPr indent="0" marL="0">
              <a:buNone/>
            </a:pPr>
            <a:r>
              <a:rPr lang="en-US" sz="1500" dirty="0">
                <a:solidFill>
                  <a:schemeClr val="accent4"/>
                </a:solidFill>
              </a:rPr>
              <a:t>Sign the final versions and add them to the ZDX library</a:t>
            </a:r>
            <a:endParaRPr lang="en-US" sz="1500" dirty="0"/>
          </a:p>
        </p:txBody>
      </p:sp>
      <p:sp>
        <p:nvSpPr>
          <p:cNvPr id="18" name="Next 4 circle"/>
          <p:cNvSpPr/>
          <p:nvPr/>
        </p:nvSpPr>
        <p:spPr>
          <a:xfrm>
            <a:off x="9099194" y="1645920"/>
            <a:ext cx="822960" cy="822960"/>
          </a:xfrm>
          <a:prstGeom prst="ellipse">
            <a:avLst/>
          </a:prstGeom>
          <a:solidFill>
            <a:schemeClr val="accent1"/>
          </a:solidFill>
          <a:ln/>
        </p:spPr>
      </p:sp>
      <p:sp>
        <p:nvSpPr>
          <p:cNvPr id="19" name="Next 4 number"/>
          <p:cNvSpPr txBox="1"/>
          <p:nvPr/>
        </p:nvSpPr>
        <p:spPr>
          <a:xfrm>
            <a:off x="9099194" y="16459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20" name="Next 4 title"/>
          <p:cNvSpPr txBox="1"/>
          <p:nvPr/>
        </p:nvSpPr>
        <p:spPr>
          <a:xfrm>
            <a:off x="9099194" y="2743200"/>
            <a:ext cx="2423160" cy="457200"/>
          </a:xfrm>
          <a:prstGeom prst="rect">
            <a:avLst/>
          </a:prstGeom>
          <a:noFill/>
          <a:ln/>
        </p:spPr>
        <p:txBody>
          <a:bodyPr wrap="square" lIns="0" tIns="0" rIns="0" bIns="0" rtlCol="0" anchor="ctr"/>
          <a:lstStyle/>
          <a:p>
            <a:pPr indent="0" marL="0">
              <a:buNone/>
            </a:pPr>
            <a:r>
              <a:rPr lang="en-US" sz="2000" b="1" dirty="0">
                <a:solidFill>
                  <a:schemeClr val="bg1"/>
                </a:solidFill>
              </a:rPr>
              <a:t>Expand</a:t>
            </a:r>
            <a:endParaRPr lang="en-US" sz="2000" dirty="0"/>
          </a:p>
        </p:txBody>
      </p:sp>
      <p:sp>
        <p:nvSpPr>
          <p:cNvPr id="21" name="Next 4 text"/>
          <p:cNvSpPr txBox="1"/>
          <p:nvPr/>
        </p:nvSpPr>
        <p:spPr>
          <a:xfrm>
            <a:off x="9099194" y="3246120"/>
            <a:ext cx="2331720" cy="1188720"/>
          </a:xfrm>
          <a:prstGeom prst="rect">
            <a:avLst/>
          </a:prstGeom>
          <a:noFill/>
          <a:ln/>
        </p:spPr>
        <p:txBody>
          <a:bodyPr wrap="square" lIns="0" tIns="0" rIns="0" bIns="0" rtlCol="0" anchor="t"/>
          <a:lstStyle/>
          <a:p>
            <a:pPr indent="0" marL="0">
              <a:buNone/>
            </a:pPr>
            <a:r>
              <a:rPr lang="en-US" sz="1500" dirty="0">
                <a:solidFill>
                  <a:schemeClr val="accent4"/>
                </a:solidFill>
              </a:rPr>
              <a:t>Add more fixes: time sync, audio reset, Office repair, print queue</a:t>
            </a:r>
            <a:endParaRPr lang="en-US" sz="1500" dirty="0"/>
          </a:p>
        </p:txBody>
      </p:sp>
      <p:sp>
        <p:nvSpPr>
          <p:cNvPr id="22" name="Ask box"/>
          <p:cNvSpPr/>
          <p:nvPr/>
        </p:nvSpPr>
        <p:spPr>
          <a:xfrm>
            <a:off x="548640" y="4937760"/>
            <a:ext cx="11064240" cy="1005840"/>
          </a:xfrm>
          <a:prstGeom prst="roundRect">
            <a:avLst>
              <a:gd name="adj" fmla="val 10909"/>
            </a:avLst>
          </a:prstGeom>
          <a:solidFill>
            <a:schemeClr val="accent1"/>
          </a:solidFill>
          <a:ln/>
        </p:spPr>
      </p:sp>
      <p:sp>
        <p:nvSpPr>
          <p:cNvPr id="23" name="Ask text"/>
          <p:cNvSpPr txBox="1"/>
          <p:nvPr/>
        </p:nvSpPr>
        <p:spPr>
          <a:xfrm>
            <a:off x="868680" y="4937760"/>
            <a:ext cx="10424160" cy="1005840"/>
          </a:xfrm>
          <a:prstGeom prst="rect">
            <a:avLst/>
          </a:prstGeom>
          <a:noFill/>
          <a:ln/>
        </p:spPr>
        <p:txBody>
          <a:bodyPr wrap="square" lIns="0" tIns="0" rIns="0" bIns="0" rtlCol="0" anchor="ctr"/>
          <a:lstStyle/>
          <a:p>
            <a:pPr indent="0" marL="0">
              <a:buNone/>
            </a:pPr>
            <a:r>
              <a:rPr lang="en-US" sz="2000" b="1" dirty="0">
                <a:solidFill>
                  <a:schemeClr val="bg1"/>
                </a:solidFill>
              </a:rPr>
              <a:t>Ask: </a:t>
            </a:r>
            <a:pPr indent="0" marL="0">
              <a:buNone/>
            </a:pPr>
            <a:r>
              <a:rPr lang="en-US" sz="2000" dirty="0">
                <a:solidFill>
                  <a:schemeClr val="bg1"/>
                </a:solidFill>
              </a:rPr>
              <a:t>approval to pilot both scripts on a small group of test devices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ZDX Remediation">
  <a:themeElements>
    <a:clrScheme name="ZDX Remediation">
      <a:dk1>
        <a:srgbClr val="1B2430"/>
      </a:dk1>
      <a:lt1>
        <a:srgbClr val="FFFFFF"/>
      </a:lt1>
      <a:dk2>
        <a:srgbClr val="0B2545"/>
      </a:dk2>
      <a:lt2>
        <a:srgbClr val="EEF3F8"/>
      </a:lt2>
      <a:accent1>
        <a:srgbClr val="13A89E"/>
      </a:accent1>
      <a:accent2>
        <a:srgbClr val="F2994A"/>
      </a:accent2>
      <a:accent3>
        <a:srgbClr val="5B7DB1"/>
      </a:accent3>
      <a:accent4>
        <a:srgbClr val="8DA9C4"/>
      </a:accent4>
      <a:accent5>
        <a:srgbClr val="D64545"/>
      </a:accent5>
      <a:accent6>
        <a:srgbClr val="6B7785"/>
      </a:accent6>
      <a:hlink>
        <a:srgbClr val="13A89E"/>
      </a:hlink>
      <a:folHlink>
        <a:srgbClr val="5B7DB1"/>
      </a:folHlink>
    </a:clrScheme>
    <a:fontScheme name="ZDX Remedi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ZDX Remediation Library</dc:title>
  <dc:subject>PptxGenJS Presentation</dc:subject>
  <dc:creator>Sinan Aldulaimi</dc:creator>
  <cp:lastModifiedBy>Sinan Aldulaimi</cp:lastModifiedBy>
  <cp:revision>1</cp:revision>
  <dcterms:created xsi:type="dcterms:W3CDTF">2026-10-22T15:26:05Z</dcterms:created>
  <dcterms:modified xsi:type="dcterms:W3CDTF">2026-10-22T15:26:05Z</dcterms:modified>
</cp:coreProperties>
</file>